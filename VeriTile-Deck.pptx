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1" r:id="rId6"/>
    <p:sldId id="260" r:id="rId7"/>
    <p:sldId id="270" r:id="rId8"/>
    <p:sldId id="261" r:id="rId9"/>
    <p:sldId id="274" r:id="rId10"/>
    <p:sldId id="262" r:id="rId11"/>
    <p:sldId id="263" r:id="rId12"/>
    <p:sldId id="264" r:id="rId13"/>
    <p:sldId id="275" r:id="rId14"/>
    <p:sldId id="276" r:id="rId15"/>
    <p:sldId id="279" r:id="rId16"/>
    <p:sldId id="27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8" userDrawn="1">
          <p15:clr>
            <a:srgbClr val="A4A3A4"/>
          </p15:clr>
        </p15:guide>
        <p15:guide id="2" pos="2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1F6"/>
    <a:srgbClr val="B56D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33"/>
    <p:restoredTop sz="94624"/>
  </p:normalViewPr>
  <p:slideViewPr>
    <p:cSldViewPr snapToGrid="0" snapToObjects="1">
      <p:cViewPr varScale="1">
        <p:scale>
          <a:sx n="89" d="100"/>
          <a:sy n="89" d="100"/>
        </p:scale>
        <p:origin x="200" y="648"/>
      </p:cViewPr>
      <p:guideLst>
        <p:guide orient="horz" pos="2228"/>
        <p:guide pos="284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BC067A-171D-A542-89B9-092A1B6ABF6C}" type="datetimeFigureOut">
              <a:rPr lang="en-US" smtClean="0"/>
              <a:t>7/11/26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22A11A-8A80-1744-996E-5E14B0B57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15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2A11A-8A80-1744-996E-5E14B0B57D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870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566928"/>
            <a:ext cx="73152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50" spc="220" dirty="0">
                <a:solidFill>
                  <a:srgbClr val="B56D0F"/>
                </a:solidFill>
                <a:latin typeface="Consolas"/>
              </a:rPr>
              <a:t>GPU KERNELS · </a:t>
            </a:r>
            <a:r>
              <a:rPr sz="1250" b="0" spc="220" dirty="0">
                <a:solidFill>
                  <a:srgbClr val="B56D0F"/>
                </a:solidFill>
                <a:latin typeface="Consolas"/>
              </a:rPr>
              <a:t>FORMAL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949440" cy="16287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8000"/>
              </a:lnSpc>
            </a:pPr>
            <a:r>
              <a:rPr lang="en-US" sz="5400" b="1" dirty="0" err="1">
                <a:solidFill>
                  <a:srgbClr val="333B45"/>
                </a:solidFill>
                <a:latin typeface="+mj-lt"/>
              </a:rPr>
              <a:t>VeriTile</a:t>
            </a:r>
            <a:r>
              <a:rPr lang="en-US" altLang="zh-CN" sz="5400" b="1" dirty="0">
                <a:solidFill>
                  <a:srgbClr val="333B45"/>
                </a:solidFill>
                <a:latin typeface="+mj-lt"/>
              </a:rPr>
              <a:t>:</a:t>
            </a:r>
            <a:r>
              <a:rPr lang="zh-CN" altLang="en-US" sz="5400" dirty="0">
                <a:solidFill>
                  <a:srgbClr val="333B45"/>
                </a:solidFill>
              </a:rPr>
              <a:t> </a:t>
            </a:r>
            <a:r>
              <a:rPr sz="5400" b="1" dirty="0">
                <a:solidFill>
                  <a:srgbClr val="10141A"/>
                </a:solidFill>
                <a:latin typeface="Calibri"/>
              </a:rPr>
              <a:t>Proving GPU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dirty="0">
                <a:solidFill>
                  <a:srgbClr val="10141A"/>
                </a:solidFill>
                <a:latin typeface="Calibri"/>
              </a:rPr>
              <a:t>kernels </a:t>
            </a:r>
            <a:r>
              <a:rPr sz="5400" b="1" dirty="0">
                <a:solidFill>
                  <a:srgbClr val="B56D0F"/>
                </a:solidFill>
                <a:latin typeface="Calibri"/>
              </a:rPr>
              <a:t>correct.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639312"/>
            <a:ext cx="5906794" cy="9750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000">
                <a:solidFill>
                  <a:srgbClr val="333B45"/>
                </a:solidFill>
                <a:latin typeface="Calibri"/>
              </a:rPr>
              <a:t>VeriTile verifies real Triton kernels in Lean 4.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333B45"/>
                </a:solidFill>
                <a:latin typeface="Calibri"/>
              </a:rPr>
              <a:t>Write Triton; get a machine-checked proof that every output matches the spec.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1965960"/>
            <a:ext cx="566928" cy="566928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427464" y="1965960"/>
            <a:ext cx="566928" cy="566928"/>
          </a:xfrm>
          <a:prstGeom prst="roundRect">
            <a:avLst>
              <a:gd name="adj" fmla="val 14000"/>
            </a:avLst>
          </a:prstGeom>
          <a:solidFill>
            <a:srgbClr val="B56D0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122408" y="1965960"/>
            <a:ext cx="566928" cy="566928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817352" y="1965960"/>
            <a:ext cx="566928" cy="566928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732520" y="2660904"/>
            <a:ext cx="566928" cy="566928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427464" y="2660904"/>
            <a:ext cx="566928" cy="566928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122408" y="2660904"/>
            <a:ext cx="566928" cy="566928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817352" y="2660904"/>
            <a:ext cx="566928" cy="566928"/>
          </a:xfrm>
          <a:prstGeom prst="roundRect">
            <a:avLst>
              <a:gd name="adj" fmla="val 14000"/>
            </a:avLst>
          </a:prstGeom>
          <a:solidFill>
            <a:srgbClr val="B56D0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732520" y="3355848"/>
            <a:ext cx="566928" cy="566928"/>
          </a:xfrm>
          <a:prstGeom prst="roundRect">
            <a:avLst>
              <a:gd name="adj" fmla="val 14000"/>
            </a:avLst>
          </a:prstGeom>
          <a:solidFill>
            <a:srgbClr val="B56D0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427464" y="3355848"/>
            <a:ext cx="566928" cy="566928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122408" y="3355848"/>
            <a:ext cx="566928" cy="566928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817352" y="3355848"/>
            <a:ext cx="566928" cy="566928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732520" y="4050792"/>
            <a:ext cx="566928" cy="566928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427464" y="4050792"/>
            <a:ext cx="566928" cy="566928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122408" y="4050792"/>
            <a:ext cx="566928" cy="566928"/>
          </a:xfrm>
          <a:prstGeom prst="roundRect">
            <a:avLst>
              <a:gd name="adj" fmla="val 14000"/>
            </a:avLst>
          </a:prstGeom>
          <a:solidFill>
            <a:srgbClr val="B56D0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817352" y="4050792"/>
            <a:ext cx="566928" cy="566928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22208" y="4580306"/>
            <a:ext cx="3093530" cy="9252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spc="150" dirty="0">
                <a:solidFill>
                  <a:srgbClr val="697280"/>
                </a:solidFill>
                <a:latin typeface="Consolas"/>
              </a:rPr>
              <a:t>TILE × TILE → </a:t>
            </a:r>
            <a:endParaRPr lang="en-US" sz="1600" b="0" spc="150" dirty="0">
              <a:solidFill>
                <a:srgbClr val="697280"/>
              </a:solidFill>
              <a:latin typeface="Consolas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spc="150" dirty="0">
                <a:solidFill>
                  <a:srgbClr val="697280"/>
                </a:solidFill>
                <a:latin typeface="Consolas"/>
              </a:rPr>
              <a:t>ONE VERIFIED GRID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" y="5221224"/>
            <a:ext cx="1764792" cy="384048"/>
          </a:xfrm>
          <a:prstGeom prst="roundRect">
            <a:avLst>
              <a:gd name="adj" fmla="val 50000"/>
            </a:avLst>
          </a:prstGeom>
          <a:solidFill>
            <a:srgbClr val="EDF0F4"/>
          </a:solidFill>
          <a:ln w="12700">
            <a:solidFill>
              <a:srgbClr val="B56D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5221224"/>
            <a:ext cx="1764792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>
                <a:solidFill>
                  <a:srgbClr val="B56D0F"/>
                </a:solidFill>
                <a:latin typeface="Consolas"/>
              </a:rPr>
              <a:t>Triton DSL in Lean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52344" y="5221224"/>
            <a:ext cx="2112264" cy="384048"/>
          </a:xfrm>
          <a:prstGeom prst="roundRect">
            <a:avLst>
              <a:gd name="adj" fmla="val 50000"/>
            </a:avLst>
          </a:prstGeom>
          <a:solidFill>
            <a:srgbClr val="EDF0F4"/>
          </a:solidFill>
          <a:ln w="12700">
            <a:solidFill>
              <a:srgbClr val="1B9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52344" y="5221224"/>
            <a:ext cx="2112264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>
                <a:solidFill>
                  <a:srgbClr val="1B9445"/>
                </a:solidFill>
                <a:latin typeface="Consolas"/>
              </a:rPr>
              <a:t>✓ 151 kernels verified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10912" y="5221224"/>
            <a:ext cx="2112264" cy="384048"/>
          </a:xfrm>
          <a:prstGeom prst="roundRect">
            <a:avLst>
              <a:gd name="adj" fmla="val 50000"/>
            </a:avLst>
          </a:prstGeom>
          <a:solidFill>
            <a:srgbClr val="EDF0F4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132493" y="5320915"/>
            <a:ext cx="1869101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dirty="0">
                <a:solidFill>
                  <a:srgbClr val="C00000"/>
                </a:solidFill>
                <a:latin typeface="Consolas"/>
              </a:rPr>
              <a:t>Agent-automated proofs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22960" y="716280"/>
            <a:ext cx="292608" cy="25400"/>
          </a:xfrm>
          <a:prstGeom prst="rect">
            <a:avLst/>
          </a:prstGeom>
          <a:solidFill>
            <a:srgbClr val="B56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43584" y="640080"/>
            <a:ext cx="1828229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220" dirty="0">
                <a:solidFill>
                  <a:srgbClr val="B56D0F"/>
                </a:solidFill>
                <a:latin typeface="Consolas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607040" cy="106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3300" b="1" dirty="0">
                <a:solidFill>
                  <a:srgbClr val="10141A"/>
                </a:solidFill>
                <a:latin typeface="Calibri"/>
              </a:rPr>
              <a:t>Kernel correctness underwrites the</a:t>
            </a:r>
            <a:r>
              <a:rPr lang="en-US" sz="3300" b="1" dirty="0">
                <a:solidFill>
                  <a:srgbClr val="10141A"/>
                </a:solidFill>
                <a:latin typeface="Calibri"/>
              </a:rPr>
              <a:t> overall</a:t>
            </a:r>
            <a:r>
              <a:rPr sz="3300" b="1" dirty="0">
                <a:solidFill>
                  <a:srgbClr val="10141A"/>
                </a:solidFill>
                <a:latin typeface="Calibri"/>
              </a:rPr>
              <a:t> LLM stack</a:t>
            </a:r>
            <a:r>
              <a:rPr lang="en-US" sz="3300" b="1" dirty="0">
                <a:solidFill>
                  <a:srgbClr val="10141A"/>
                </a:solidFill>
                <a:latin typeface="Calibri"/>
              </a:rPr>
              <a:t> —</a:t>
            </a:r>
          </a:p>
          <a:p>
            <a:pPr>
              <a:spcAft>
                <a:spcPts val="300"/>
              </a:spcAft>
            </a:pPr>
            <a:r>
              <a:rPr lang="en-US" sz="3300" b="1" dirty="0">
                <a:solidFill>
                  <a:srgbClr val="10141A"/>
                </a:solidFill>
                <a:latin typeface="Calibri"/>
              </a:rPr>
              <a:t>and tests only sample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672" y="2526024"/>
            <a:ext cx="3401568" cy="2395728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044" y="2763768"/>
            <a:ext cx="3163824" cy="326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dirty="0">
                <a:solidFill>
                  <a:srgbClr val="B56D0E"/>
                </a:solidFill>
                <a:latin typeface="Trebuchet MS" panose="020B0703020202090204" pitchFamily="34" charset="0"/>
                <a:cs typeface="Consolas" panose="020B0609020204030204" pitchFamily="49" charset="0"/>
              </a:rPr>
              <a:t>WHY IT MATTERS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4832" y="2526024"/>
            <a:ext cx="3401568" cy="2395728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0864" y="2763768"/>
            <a:ext cx="3054096" cy="326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dirty="0">
                <a:solidFill>
                  <a:srgbClr val="B56D0E"/>
                </a:solidFill>
                <a:latin typeface="Trebuchet MS" panose="020B0703020202090204" pitchFamily="34" charset="0"/>
                <a:cs typeface="Consolas" panose="020B0609020204030204" pitchFamily="49" charset="0"/>
              </a:rPr>
              <a:t>WHY IT'S FRAGILE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40992" y="2526024"/>
            <a:ext cx="3401568" cy="2395728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97024" y="2763768"/>
            <a:ext cx="2889504" cy="3285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dirty="0">
                <a:solidFill>
                  <a:srgbClr val="B56D0E"/>
                </a:solidFill>
                <a:latin typeface="Trebuchet MS" panose="020B0703020202090204" pitchFamily="34" charset="0"/>
              </a:rPr>
              <a:t>WHY TESTING MISSES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20664"/>
            <a:ext cx="10607040" cy="8568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lang="en-US" sz="2400" dirty="0" err="1"/>
              <a:t>VeriTile</a:t>
            </a:r>
            <a:r>
              <a:rPr lang="en-US" sz="2400" dirty="0"/>
              <a:t> uses </a:t>
            </a:r>
            <a:r>
              <a:rPr lang="en-US" sz="2400" b="1" dirty="0"/>
              <a:t>formal</a:t>
            </a:r>
            <a:r>
              <a:rPr lang="en-US" sz="2400" dirty="0"/>
              <a:t> </a:t>
            </a:r>
            <a:r>
              <a:rPr lang="en-US" sz="2400" b="1" dirty="0"/>
              <a:t>verification</a:t>
            </a:r>
            <a:r>
              <a:rPr lang="en-US" sz="2400" dirty="0"/>
              <a:t> to prove the kernel for </a:t>
            </a:r>
            <a:r>
              <a:rPr lang="en-US" sz="2400" b="1" dirty="0"/>
              <a:t>every valid input </a:t>
            </a:r>
            <a:r>
              <a:rPr lang="en-US" sz="2400" dirty="0"/>
              <a:t>— not the slice a benchmark happens to test.</a:t>
            </a:r>
            <a:endParaRPr sz="2800" dirty="0">
              <a:solidFill>
                <a:srgbClr val="10141A"/>
              </a:solidFill>
              <a:latin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5D10CE-7CC0-3BA3-D31B-E412B323C4D2}"/>
              </a:ext>
            </a:extLst>
          </p:cNvPr>
          <p:cNvSpPr txBox="1"/>
          <p:nvPr/>
        </p:nvSpPr>
        <p:spPr>
          <a:xfrm>
            <a:off x="927544" y="3249274"/>
            <a:ext cx="31638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Wrong kernels don’t always crash — they return plausible numbers that quietly poison a whole LLM training run or inference pipeline.</a:t>
            </a:r>
            <a:endParaRPr lang="en-US" sz="2000" b="0" dirty="0">
              <a:solidFill>
                <a:schemeClr val="bg1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F35990-87C9-6AB5-ECA2-E5FA8918C9D6}"/>
              </a:ext>
            </a:extLst>
          </p:cNvPr>
          <p:cNvSpPr txBox="1"/>
          <p:nvPr/>
        </p:nvSpPr>
        <p:spPr>
          <a:xfrm>
            <a:off x="4544568" y="3249275"/>
            <a:ext cx="3163824" cy="151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Every kernel weaves intricate memory access together with math transforms —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spcAft>
                <a:spcPts val="300"/>
              </a:spcAft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a combination that’s</a:t>
            </a:r>
            <a:r>
              <a:rPr lang="zh-CN" altLang="en-US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exceptionally bug-prone.</a:t>
            </a:r>
            <a:endParaRPr lang="en-US" sz="2000" b="0" dirty="0">
              <a:solidFill>
                <a:schemeClr val="bg1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76B405-70BC-6118-162E-0970804B6D72}"/>
              </a:ext>
            </a:extLst>
          </p:cNvPr>
          <p:cNvSpPr txBox="1"/>
          <p:nvPr/>
        </p:nvSpPr>
        <p:spPr>
          <a:xfrm>
            <a:off x="8174735" y="3249275"/>
            <a:ext cx="291179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Shapes × strides × masks × values establish a large space to sample — and also floating-point blurs a real bug into rounding noise.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22960" y="624840"/>
            <a:ext cx="292608" cy="25400"/>
          </a:xfrm>
          <a:prstGeom prst="rect">
            <a:avLst/>
          </a:prstGeom>
          <a:solidFill>
            <a:srgbClr val="B56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43584" y="548640"/>
            <a:ext cx="2185416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220" dirty="0">
                <a:solidFill>
                  <a:srgbClr val="B56D0F"/>
                </a:solidFill>
                <a:latin typeface="Consolas"/>
              </a:rPr>
              <a:t>THE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24128"/>
            <a:ext cx="10058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 err="1">
                <a:solidFill>
                  <a:srgbClr val="10141A"/>
                </a:solidFill>
                <a:latin typeface="Calibri"/>
              </a:rPr>
              <a:t>VeriTile</a:t>
            </a:r>
            <a:r>
              <a:rPr lang="en-US" sz="3200" b="1" dirty="0">
                <a:solidFill>
                  <a:srgbClr val="10141A"/>
                </a:solidFill>
                <a:latin typeface="Calibri"/>
              </a:rPr>
              <a:t>: </a:t>
            </a:r>
            <a:r>
              <a:rPr sz="3200" b="1" dirty="0">
                <a:solidFill>
                  <a:srgbClr val="10141A"/>
                </a:solidFill>
                <a:latin typeface="Calibri"/>
              </a:rPr>
              <a:t>Triton in. A verified theorem 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5196"/>
            <a:ext cx="2395728" cy="105156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841500"/>
            <a:ext cx="2029968" cy="6976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spc="140" dirty="0">
                <a:solidFill>
                  <a:srgbClr val="B56D0F"/>
                </a:solidFill>
                <a:latin typeface="Consolas"/>
              </a:rPr>
              <a:t>WRITE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dirty="0">
                <a:solidFill>
                  <a:srgbClr val="10141A"/>
                </a:solidFill>
                <a:latin typeface="Calibri"/>
              </a:rPr>
              <a:t>Triton kernel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dirty="0">
                <a:solidFill>
                  <a:srgbClr val="697280"/>
                </a:solidFill>
                <a:latin typeface="Consolas"/>
              </a:rPr>
              <a:t>triton { …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18688" y="1695196"/>
            <a:ext cx="310896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56D0F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9584" y="1695196"/>
            <a:ext cx="2395728" cy="105156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30752" y="1841500"/>
            <a:ext cx="2029968" cy="6976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spc="140" dirty="0">
                <a:solidFill>
                  <a:srgbClr val="B56D0F"/>
                </a:solidFill>
                <a:latin typeface="Consolas"/>
              </a:rPr>
              <a:t>EMBED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dirty="0">
                <a:solidFill>
                  <a:srgbClr val="10141A"/>
                </a:solidFill>
                <a:latin typeface="Calibri"/>
              </a:rPr>
              <a:t>Typed AST + semantics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dirty="0">
                <a:solidFill>
                  <a:srgbClr val="697280"/>
                </a:solidFill>
                <a:latin typeface="Consolas"/>
              </a:rPr>
              <a:t>Op · </a:t>
            </a:r>
            <a:r>
              <a:rPr sz="1400" b="0" dirty="0" err="1">
                <a:solidFill>
                  <a:srgbClr val="697280"/>
                </a:solidFill>
                <a:latin typeface="Consolas"/>
              </a:rPr>
              <a:t>Stmt</a:t>
            </a:r>
            <a:endParaRPr sz="1400" b="0" dirty="0">
              <a:solidFill>
                <a:srgbClr val="697280"/>
              </a:solidFill>
              <a:latin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25312" y="1695196"/>
            <a:ext cx="310896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56D0F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695196"/>
            <a:ext cx="2395728" cy="105156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37376" y="1841500"/>
            <a:ext cx="2029968" cy="6976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spc="140" dirty="0">
                <a:solidFill>
                  <a:srgbClr val="B56D0F"/>
                </a:solidFill>
                <a:latin typeface="Consolas"/>
              </a:rPr>
              <a:t>PROVE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dirty="0">
                <a:solidFill>
                  <a:srgbClr val="10141A"/>
                </a:solidFill>
                <a:latin typeface="Calibri"/>
              </a:rPr>
              <a:t>Realizes / Refines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dirty="0">
                <a:solidFill>
                  <a:srgbClr val="697280"/>
                </a:solidFill>
                <a:latin typeface="Consolas"/>
              </a:rPr>
              <a:t>vs spec · vs kernel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1936" y="1695196"/>
            <a:ext cx="310896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56D0F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42832" y="1695196"/>
            <a:ext cx="2395728" cy="105156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0" y="1841500"/>
            <a:ext cx="2029968" cy="6976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spc="140" dirty="0">
                <a:solidFill>
                  <a:srgbClr val="B56D0F"/>
                </a:solidFill>
                <a:latin typeface="Consolas"/>
              </a:rPr>
              <a:t>AUDIT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dirty="0">
                <a:solidFill>
                  <a:srgbClr val="10141A"/>
                </a:solidFill>
                <a:latin typeface="Calibri"/>
              </a:rPr>
              <a:t>Machine-checked trust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dirty="0">
                <a:solidFill>
                  <a:srgbClr val="697280"/>
                </a:solidFill>
                <a:latin typeface="Consolas"/>
              </a:rPr>
              <a:t>#</a:t>
            </a:r>
            <a:r>
              <a:rPr sz="1400" b="0" dirty="0" err="1">
                <a:solidFill>
                  <a:srgbClr val="697280"/>
                </a:solidFill>
                <a:latin typeface="Consolas"/>
              </a:rPr>
              <a:t>axiomsClean</a:t>
            </a:r>
            <a:endParaRPr sz="1400" b="0" dirty="0">
              <a:solidFill>
                <a:srgbClr val="697280"/>
              </a:solidFill>
              <a:latin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30013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00" dirty="0">
                <a:solidFill>
                  <a:srgbClr val="697280"/>
                </a:solidFill>
                <a:latin typeface="Consolas"/>
              </a:rPr>
              <a:t>FOUR PILLARS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385364"/>
            <a:ext cx="10543032" cy="65836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3385364"/>
            <a:ext cx="7315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56D0F"/>
                </a:solidFill>
                <a:latin typeface="Consolas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3449090"/>
            <a:ext cx="6766560" cy="5309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dirty="0">
                <a:solidFill>
                  <a:srgbClr val="10141A"/>
                </a:solidFill>
                <a:latin typeface="Trebuchet MS" panose="020B0703020202090204" pitchFamily="34" charset="0"/>
              </a:rPr>
              <a:t>User-friendly language</a:t>
            </a:r>
          </a:p>
          <a:p>
            <a:pPr>
              <a:spcAft>
                <a:spcPts val="300"/>
              </a:spcAft>
            </a:pPr>
            <a:r>
              <a:rPr sz="1600" dirty="0">
                <a:solidFill>
                  <a:srgbClr val="10141A"/>
                </a:solidFill>
                <a:latin typeface="Calibri"/>
              </a:rPr>
              <a:t>Write Triton; never author Lean proofs to state a kernel.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629909"/>
            <a:ext cx="265176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00" dirty="0">
                <a:solidFill>
                  <a:srgbClr val="3C5C85"/>
                </a:solidFill>
                <a:latin typeface="Consolas"/>
              </a:rPr>
              <a:t>INPUT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171748"/>
            <a:ext cx="10543032" cy="65836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4171748"/>
            <a:ext cx="7315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56D0F"/>
                </a:solidFill>
                <a:latin typeface="Consolas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235474"/>
            <a:ext cx="6766560" cy="5309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dirty="0">
                <a:solidFill>
                  <a:srgbClr val="10141A"/>
                </a:solidFill>
                <a:latin typeface="Trebuchet MS" panose="020B0703020202090204" pitchFamily="34" charset="0"/>
              </a:rPr>
              <a:t>Sound formalization</a:t>
            </a:r>
          </a:p>
          <a:p>
            <a:pPr>
              <a:spcAft>
                <a:spcPts val="300"/>
              </a:spcAft>
            </a:pPr>
            <a:r>
              <a:rPr sz="1600" dirty="0">
                <a:solidFill>
                  <a:srgbClr val="10141A"/>
                </a:solidFill>
                <a:latin typeface="Calibri"/>
              </a:rPr>
              <a:t>Typed AST plus explicit semantics. The trust gap is named and bounded.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416293"/>
            <a:ext cx="265176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00" dirty="0">
                <a:solidFill>
                  <a:srgbClr val="3C5C85"/>
                </a:solidFill>
                <a:latin typeface="Consolas"/>
              </a:rPr>
              <a:t>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958132"/>
            <a:ext cx="10543032" cy="65836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1560" y="4958132"/>
            <a:ext cx="7315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56D0F"/>
                </a:solidFill>
                <a:latin typeface="Consola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5021858"/>
            <a:ext cx="6766560" cy="5309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dirty="0">
                <a:solidFill>
                  <a:srgbClr val="10141A"/>
                </a:solidFill>
                <a:latin typeface="Trebuchet MS" panose="020B0703020202090204" pitchFamily="34" charset="0"/>
              </a:rPr>
              <a:t>Expressive correctness</a:t>
            </a:r>
          </a:p>
          <a:p>
            <a:pPr>
              <a:spcAft>
                <a:spcPts val="300"/>
              </a:spcAft>
            </a:pPr>
            <a:r>
              <a:rPr sz="1600" dirty="0">
                <a:solidFill>
                  <a:srgbClr val="10141A"/>
                </a:solidFill>
                <a:latin typeface="Calibri"/>
              </a:rPr>
              <a:t>Realizes math specs; Refines optimized kernels.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202677"/>
            <a:ext cx="265176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00" dirty="0">
                <a:solidFill>
                  <a:srgbClr val="3C5C85"/>
                </a:solidFill>
                <a:latin typeface="Consolas"/>
              </a:rPr>
              <a:t>WHAT WE PROVE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744516"/>
            <a:ext cx="10543032" cy="65836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1560" y="5744516"/>
            <a:ext cx="7315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56D0F"/>
                </a:solidFill>
                <a:latin typeface="Consolas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83080" y="5808242"/>
            <a:ext cx="6766560" cy="5309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dirty="0">
                <a:solidFill>
                  <a:srgbClr val="10141A"/>
                </a:solidFill>
                <a:latin typeface="Trebuchet MS" panose="020B0703020202090204" pitchFamily="34" charset="0"/>
              </a:rPr>
              <a:t>Library + agents</a:t>
            </a:r>
          </a:p>
          <a:p>
            <a:pPr>
              <a:spcAft>
                <a:spcPts val="300"/>
              </a:spcAft>
            </a:pPr>
            <a:r>
              <a:rPr sz="1600" dirty="0">
                <a:solidFill>
                  <a:srgbClr val="10141A"/>
                </a:solidFill>
                <a:latin typeface="Calibri"/>
              </a:rPr>
              <a:t>Reusable proof stack scales to </a:t>
            </a:r>
            <a:r>
              <a:rPr lang="en-US" sz="1600" dirty="0">
                <a:solidFill>
                  <a:srgbClr val="10141A"/>
                </a:solidFill>
                <a:latin typeface="Calibri"/>
              </a:rPr>
              <a:t>complex kernel verification tasks</a:t>
            </a:r>
            <a:r>
              <a:rPr sz="1600" dirty="0">
                <a:solidFill>
                  <a:srgbClr val="10141A"/>
                </a:solidFill>
                <a:latin typeface="Calibri"/>
              </a:rPr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5989061"/>
            <a:ext cx="265176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00" dirty="0">
                <a:solidFill>
                  <a:srgbClr val="3C5C85"/>
                </a:solidFill>
                <a:latin typeface="Consolas"/>
              </a:rPr>
              <a:t>HOW IT SCALES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35C955A-B203-EA45-2182-1958831A3EA8}"/>
              </a:ext>
            </a:extLst>
          </p:cNvPr>
          <p:cNvSpPr/>
          <p:nvPr/>
        </p:nvSpPr>
        <p:spPr>
          <a:xfrm>
            <a:off x="6071383" y="1555748"/>
            <a:ext cx="5029200" cy="1937925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697992"/>
            <a:ext cx="292608" cy="25400"/>
          </a:xfrm>
          <a:prstGeom prst="rect">
            <a:avLst/>
          </a:prstGeom>
          <a:solidFill>
            <a:srgbClr val="B56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43584" y="621792"/>
            <a:ext cx="3799904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00" dirty="0">
                <a:solidFill>
                  <a:srgbClr val="B56D0F"/>
                </a:solidFill>
                <a:latin typeface="Consolas"/>
              </a:rPr>
              <a:t>01  </a:t>
            </a:r>
            <a:r>
              <a:rPr lang="en-US" sz="1250" b="1" spc="200" dirty="0">
                <a:solidFill>
                  <a:srgbClr val="B56D0F"/>
                </a:solidFill>
                <a:latin typeface="Consolas"/>
              </a:rPr>
              <a:t> </a:t>
            </a:r>
            <a:r>
              <a:rPr sz="1250" b="0" spc="220" dirty="0">
                <a:solidFill>
                  <a:srgbClr val="B56D0F"/>
                </a:solidFill>
                <a:latin typeface="Consolas"/>
              </a:rPr>
              <a:t>USER-FRIENDLY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1018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300" b="1" dirty="0">
                <a:solidFill>
                  <a:srgbClr val="10141A"/>
                </a:solidFill>
                <a:latin typeface="Calibri"/>
              </a:rPr>
              <a:t>User</a:t>
            </a:r>
            <a:r>
              <a:rPr sz="3300" b="1" dirty="0">
                <a:solidFill>
                  <a:srgbClr val="10141A"/>
                </a:solidFill>
                <a:latin typeface="Calibri"/>
              </a:rPr>
              <a:t> write</a:t>
            </a:r>
            <a:r>
              <a:rPr lang="en-US" sz="3300" b="1" dirty="0">
                <a:solidFill>
                  <a:srgbClr val="10141A"/>
                </a:solidFill>
                <a:latin typeface="Calibri"/>
              </a:rPr>
              <a:t>s</a:t>
            </a:r>
            <a:r>
              <a:rPr sz="3300" b="1" dirty="0">
                <a:solidFill>
                  <a:srgbClr val="10141A"/>
                </a:solidFill>
                <a:latin typeface="Calibri"/>
              </a:rPr>
              <a:t> Triton.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dirty="0">
                <a:solidFill>
                  <a:srgbClr val="10141A"/>
                </a:solidFill>
                <a:latin typeface="Calibri"/>
              </a:rPr>
              <a:t>Not Lean</a:t>
            </a:r>
            <a:r>
              <a:rPr lang="en-US" sz="3300" b="1" dirty="0">
                <a:solidFill>
                  <a:srgbClr val="10141A"/>
                </a:solidFill>
                <a:latin typeface="Calibri"/>
              </a:rPr>
              <a:t> at all</a:t>
            </a:r>
            <a:r>
              <a:rPr sz="3300" b="1" dirty="0">
                <a:solidFill>
                  <a:srgbClr val="10141A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5029200" cy="1181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dirty="0">
                <a:solidFill>
                  <a:srgbClr val="333B45"/>
                </a:solidFill>
                <a:latin typeface="Calibri"/>
              </a:rPr>
              <a:t>Kernel authors stay in Triton-like code: </a:t>
            </a:r>
            <a:r>
              <a:rPr sz="2000" b="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tl.load</a:t>
            </a:r>
            <a:r>
              <a:rPr sz="2000" b="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sz="2000" b="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tl.store</a:t>
            </a:r>
            <a:r>
              <a:rPr sz="2000" b="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masks, offsets</a:t>
            </a:r>
            <a:r>
              <a:rPr sz="2000" b="0" dirty="0">
                <a:solidFill>
                  <a:srgbClr val="333B45"/>
                </a:solidFill>
                <a:latin typeface="Calibri"/>
              </a:rPr>
              <a:t>. </a:t>
            </a:r>
            <a:r>
              <a:rPr sz="2100" b="0" dirty="0">
                <a:solidFill>
                  <a:srgbClr val="333B45"/>
                </a:solidFill>
                <a:latin typeface="Calibri"/>
              </a:rPr>
              <a:t>Lean is the checking engine underneath.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816941"/>
            <a:ext cx="118872" cy="118872"/>
          </a:xfrm>
          <a:prstGeom prst="rect">
            <a:avLst/>
          </a:prstGeom>
          <a:solidFill>
            <a:srgbClr val="B56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701585"/>
            <a:ext cx="4480560" cy="6601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2000" b="0" dirty="0">
                <a:solidFill>
                  <a:srgbClr val="333B45"/>
                </a:solidFill>
                <a:latin typeface="Calibri"/>
              </a:rPr>
              <a:t>User only needs to write a Triton kernel, and does not need to access Lean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610272"/>
            <a:ext cx="118872" cy="118872"/>
          </a:xfrm>
          <a:prstGeom prst="rect">
            <a:avLst/>
          </a:prstGeom>
          <a:solidFill>
            <a:srgbClr val="B56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4479748"/>
            <a:ext cx="4480560" cy="6601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2000" dirty="0">
                <a:solidFill>
                  <a:srgbClr val="333B45"/>
                </a:solidFill>
                <a:latin typeface="Calibri"/>
              </a:rPr>
              <a:t>Triton-to-Lean translation is a mechanical, line-by-line copy</a:t>
            </a:r>
            <a:endParaRPr sz="2000" b="0" dirty="0">
              <a:solidFill>
                <a:srgbClr val="333B45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68680" y="5487572"/>
            <a:ext cx="118872" cy="118872"/>
          </a:xfrm>
          <a:prstGeom prst="rect">
            <a:avLst/>
          </a:prstGeom>
          <a:solidFill>
            <a:srgbClr val="B56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5372216"/>
            <a:ext cx="4480560" cy="6601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dirty="0">
                <a:solidFill>
                  <a:srgbClr val="333B45"/>
                </a:solidFill>
                <a:latin typeface="Calibri"/>
              </a:rPr>
              <a:t>No theorem-proving knowledge is needed to state the kernel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17104" y="1209408"/>
            <a:ext cx="53949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cap="all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 WRITEs ·Triton (Python)</a:t>
            </a:r>
            <a:endParaRPr sz="1100" b="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056144" y="4139252"/>
            <a:ext cx="5044432" cy="1980484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48397" y="4257841"/>
            <a:ext cx="4659926" cy="17912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B56D0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silu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(X OUT BLOCK) := </a:t>
            </a:r>
            <a:r>
              <a:rPr lang="en-US" sz="1400" b="1" dirty="0">
                <a:solidFill>
                  <a:srgbClr val="B56D0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triton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offs :=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tl.program_id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(0) * BLOCK 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	+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tl.arange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(0, BLOCK)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x    :=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tl.load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 + offs)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y    := x *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tl.sigmoid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(x)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tl.store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(OUT + offs, y) 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291763-FE5B-6F4A-44E0-46F369CE73E3}"/>
              </a:ext>
            </a:extLst>
          </p:cNvPr>
          <p:cNvSpPr txBox="1"/>
          <p:nvPr/>
        </p:nvSpPr>
        <p:spPr>
          <a:xfrm>
            <a:off x="6146172" y="1566354"/>
            <a:ext cx="4441874" cy="1883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20000"/>
              </a:lnSpc>
              <a:buNone/>
            </a:pPr>
            <a:r>
              <a:rPr lang="en-US" sz="1400" b="1" i="0" dirty="0">
                <a:solidFill>
                  <a:srgbClr val="BE741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en-US" sz="1400" b="1" i="0" dirty="0" err="1">
                <a:solidFill>
                  <a:srgbClr val="BE741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triton.jit</a:t>
            </a:r>
            <a:endParaRPr lang="en-US" sz="1400" b="0" i="0" dirty="0">
              <a:solidFill>
                <a:srgbClr val="2C333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indent="0" algn="l">
              <a:lnSpc>
                <a:spcPct val="120000"/>
              </a:lnSpc>
              <a:buNone/>
            </a:pPr>
            <a:r>
              <a:rPr lang="en-US" sz="1400" b="1" i="0" dirty="0">
                <a:solidFill>
                  <a:srgbClr val="BE741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1400" b="0" i="0" dirty="0">
                <a:solidFill>
                  <a:srgbClr val="2C333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silu_kernel</a:t>
            </a:r>
            <a:r>
              <a:rPr lang="en-US" sz="1400" b="0" i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(X, OUT, n, BLOCK):</a:t>
            </a:r>
          </a:p>
          <a:p>
            <a:pPr marL="0" marR="0" indent="0" algn="l">
              <a:lnSpc>
                <a:spcPct val="120000"/>
              </a:lnSpc>
              <a:buNone/>
            </a:pPr>
            <a:r>
              <a:rPr lang="en-US" sz="1400" b="0" i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offs = </a:t>
            </a:r>
            <a:r>
              <a:rPr lang="en-US" sz="140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tl.program_id</a:t>
            </a:r>
            <a:r>
              <a:rPr lang="en-US" sz="1400" b="0" i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(0) * BLOCK </a:t>
            </a:r>
          </a:p>
          <a:p>
            <a:pPr marL="0" marR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</a:t>
            </a:r>
            <a:r>
              <a:rPr lang="en-US" sz="1400" b="0" i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 </a:t>
            </a:r>
            <a:r>
              <a:rPr lang="en-US" sz="140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tl.arange</a:t>
            </a:r>
            <a:r>
              <a:rPr lang="en-US" sz="1400" b="0" i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(0, BLOCK)</a:t>
            </a:r>
          </a:p>
          <a:p>
            <a:pPr marL="0" marR="0" indent="0" algn="l">
              <a:lnSpc>
                <a:spcPct val="120000"/>
              </a:lnSpc>
              <a:buNone/>
            </a:pPr>
            <a:r>
              <a:rPr lang="en-US" sz="1400" b="0" i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x = </a:t>
            </a:r>
            <a:r>
              <a:rPr lang="en-US" sz="140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tl.load</a:t>
            </a:r>
            <a:r>
              <a:rPr lang="en-US" sz="1400" b="0" i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(X + offs)</a:t>
            </a:r>
          </a:p>
          <a:p>
            <a:pPr marL="0" marR="0" indent="0" algn="l">
              <a:lnSpc>
                <a:spcPct val="120000"/>
              </a:lnSpc>
              <a:buNone/>
            </a:pPr>
            <a:r>
              <a:rPr lang="en-US" sz="1400" b="0" i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y = x * </a:t>
            </a:r>
            <a:r>
              <a:rPr lang="en-US" sz="140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tl.sigmoid</a:t>
            </a:r>
            <a:r>
              <a:rPr lang="en-US" sz="1400" b="0" i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(x)</a:t>
            </a:r>
          </a:p>
          <a:p>
            <a:pPr marL="0" marR="0" indent="0" algn="l">
              <a:lnSpc>
                <a:spcPct val="120000"/>
              </a:lnSpc>
              <a:buNone/>
            </a:pPr>
            <a:r>
              <a:rPr lang="en-US" sz="1400" b="0" i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40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tl.store</a:t>
            </a:r>
            <a:r>
              <a:rPr lang="en-US" sz="1400" b="0" i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(OUT + offs, y)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55B0BE-F95F-5D48-DD16-96054D8E1DA5}"/>
              </a:ext>
            </a:extLst>
          </p:cNvPr>
          <p:cNvSpPr txBox="1"/>
          <p:nvPr/>
        </p:nvSpPr>
        <p:spPr>
          <a:xfrm>
            <a:off x="6096000" y="6208072"/>
            <a:ext cx="37361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cap="all" spc="99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VERITILE EMBEDS ·typed Lean DSL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0EABEF0-5035-0B95-7D68-B8098FDFE850}"/>
              </a:ext>
            </a:extLst>
          </p:cNvPr>
          <p:cNvCxnSpPr>
            <a:cxnSpLocks/>
          </p:cNvCxnSpPr>
          <p:nvPr/>
        </p:nvCxnSpPr>
        <p:spPr>
          <a:xfrm>
            <a:off x="7217901" y="3493673"/>
            <a:ext cx="0" cy="64557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E977FBB-6F72-1295-1603-B3E348E4A79C}"/>
              </a:ext>
            </a:extLst>
          </p:cNvPr>
          <p:cNvSpPr txBox="1"/>
          <p:nvPr/>
        </p:nvSpPr>
        <p:spPr>
          <a:xfrm>
            <a:off x="7313119" y="3493577"/>
            <a:ext cx="37358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spc="45" dirty="0">
                <a:solidFill>
                  <a:srgbClr val="63707F"/>
                </a:solidFill>
                <a:effectLst/>
              </a:rPr>
              <a:t>Line </a:t>
            </a:r>
            <a:r>
              <a:rPr lang="en-US" spc="45" dirty="0">
                <a:solidFill>
                  <a:srgbClr val="63707F"/>
                </a:solidFill>
              </a:rPr>
              <a:t>by</a:t>
            </a:r>
            <a:r>
              <a:rPr lang="en-US" sz="1800" b="0" i="0" spc="45" dirty="0">
                <a:solidFill>
                  <a:srgbClr val="63707F"/>
                </a:solidFill>
                <a:effectLst/>
              </a:rPr>
              <a:t> line in-place replacement</a:t>
            </a:r>
          </a:p>
          <a:p>
            <a:r>
              <a:rPr lang="en-US" sz="1800" b="0" i="0" spc="45" dirty="0">
                <a:solidFill>
                  <a:srgbClr val="63707F"/>
                </a:solidFill>
                <a:effectLst/>
              </a:rPr>
              <a:t>Lean wrapped in </a:t>
            </a:r>
            <a:r>
              <a:rPr lang="en-US" sz="1800" b="1" i="0" spc="45" dirty="0">
                <a:solidFill>
                  <a:schemeClr val="bg1">
                    <a:lumMod val="50000"/>
                  </a:schemeClr>
                </a:solidFill>
                <a:effectLst/>
              </a:rPr>
              <a:t>triton { };</a:t>
            </a:r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22960" y="697992"/>
            <a:ext cx="292608" cy="25400"/>
          </a:xfrm>
          <a:prstGeom prst="rect">
            <a:avLst/>
          </a:prstGeom>
          <a:solidFill>
            <a:srgbClr val="B56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43584" y="621792"/>
            <a:ext cx="4928616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00" dirty="0">
                <a:solidFill>
                  <a:srgbClr val="B56D0F"/>
                </a:solidFill>
                <a:latin typeface="Consolas"/>
              </a:rPr>
              <a:t>01   </a:t>
            </a:r>
            <a:r>
              <a:rPr sz="1250" b="0" spc="220" dirty="0">
                <a:solidFill>
                  <a:srgbClr val="B56D0F"/>
                </a:solidFill>
                <a:latin typeface="Consolas"/>
              </a:rPr>
              <a:t>USER-FRIENDLY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698480" cy="477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3100" b="1" dirty="0">
                <a:solidFill>
                  <a:srgbClr val="10141A"/>
                </a:solidFill>
                <a:latin typeface="Calibri"/>
              </a:rPr>
              <a:t>Automatic Modeling of Kernel Optimization</a:t>
            </a:r>
            <a:endParaRPr sz="3100" b="1" dirty="0">
              <a:solidFill>
                <a:srgbClr val="10141A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424160" cy="701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lang="en-US" sz="2000" dirty="0"/>
              <a:t>Performance fuses the naive three-pass pipeline into a single kernel. </a:t>
            </a:r>
            <a:r>
              <a:rPr lang="en-US" sz="2000" dirty="0" err="1"/>
              <a:t>VeriTile</a:t>
            </a:r>
            <a:r>
              <a:rPr lang="en-US" sz="2000" dirty="0"/>
              <a:t> models all of them and the corresponding equivalence theorem (</a:t>
            </a:r>
            <a:r>
              <a:rPr lang="en-US" sz="2000" spc="45" dirty="0" err="1">
                <a:solidFill>
                  <a:srgbClr val="2C333C"/>
                </a:solidFill>
                <a:latin typeface="ui-monospace"/>
              </a:rPr>
              <a:t>fusedSiLUKernel</a:t>
            </a:r>
            <a:r>
              <a:rPr lang="en-US" sz="2000" spc="45" dirty="0">
                <a:solidFill>
                  <a:srgbClr val="2C333C"/>
                </a:solidFill>
                <a:latin typeface="ui-monospace"/>
              </a:rPr>
              <a:t> ≡ [ gate ▸ </a:t>
            </a:r>
            <a:r>
              <a:rPr lang="en-US" sz="2000" spc="45" dirty="0" err="1">
                <a:solidFill>
                  <a:srgbClr val="2C333C"/>
                </a:solidFill>
                <a:latin typeface="ui-monospace"/>
              </a:rPr>
              <a:t>silu</a:t>
            </a:r>
            <a:r>
              <a:rPr lang="en-US" sz="2000" spc="45" dirty="0">
                <a:solidFill>
                  <a:srgbClr val="2C333C"/>
                </a:solidFill>
                <a:latin typeface="ui-monospace"/>
              </a:rPr>
              <a:t> ▸ residual ])</a:t>
            </a:r>
            <a:r>
              <a:rPr lang="en-US" sz="2000" dirty="0"/>
              <a:t>.</a:t>
            </a:r>
            <a:endParaRPr sz="2400" b="0" dirty="0">
              <a:solidFill>
                <a:srgbClr val="333B45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57311" y="3131393"/>
            <a:ext cx="5015132" cy="344424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1903" y="3277697"/>
            <a:ext cx="4512917" cy="30839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B56D0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siluStepGate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… := </a:t>
            </a:r>
            <a:r>
              <a:rPr lang="en-US" sz="1400" b="1" dirty="0">
                <a:solidFill>
                  <a:srgbClr val="B56D0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triton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z :=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tl.load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(x) *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tl.load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(gate)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tl.store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zReg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offs, z) }</a:t>
            </a:r>
          </a:p>
          <a:p>
            <a:pPr>
              <a:lnSpc>
                <a:spcPct val="120000"/>
              </a:lnSpc>
            </a:pPr>
            <a:endParaRPr lang="en-US" sz="14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B56D0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siluStepSilu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… := </a:t>
            </a:r>
            <a:r>
              <a:rPr lang="en-US" sz="1400" b="1" dirty="0">
                <a:solidFill>
                  <a:srgbClr val="B56D0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triton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z    :=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tl.load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zReg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offs)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silu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:= z *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tl.sigmoid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(z)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tl.store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siluReg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offs,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silu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}</a:t>
            </a:r>
          </a:p>
          <a:p>
            <a:pPr>
              <a:lnSpc>
                <a:spcPct val="120000"/>
              </a:lnSpc>
            </a:pPr>
            <a:endParaRPr lang="en-US" sz="14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B56D0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siluStepResidual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… := </a:t>
            </a:r>
            <a:r>
              <a:rPr lang="en-US" sz="1400" b="1" dirty="0">
                <a:solidFill>
                  <a:srgbClr val="B56D0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triton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y :=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tl.load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(residual) +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tl.load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siluReg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tl.store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(out + offs, y) 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96342" y="3139757"/>
            <a:ext cx="5015127" cy="3444239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91887" y="3277697"/>
            <a:ext cx="4642802" cy="30839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B56D0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fusedSiLUKernel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… := </a:t>
            </a:r>
            <a:r>
              <a:rPr lang="en-US" sz="1400" b="1" dirty="0">
                <a:solidFill>
                  <a:srgbClr val="B56D0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triton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x        :=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tl.load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 + offs)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gate     :=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tl.load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(gate + offs)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residual :=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tl.load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(residual + offs)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z    := x * gate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silu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:= z *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tl.sigmoid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(z)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y    := residual +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silu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tl.store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(out + offs, y)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20000"/>
              </a:lnSpc>
            </a:pPr>
            <a:endParaRPr lang="en-US" sz="14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Theorem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refineCorrectness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… : </a:t>
            </a:r>
          </a:p>
          <a:p>
            <a:pPr>
              <a:lnSpc>
                <a:spcPct val="120000"/>
              </a:lnSpc>
            </a:pPr>
            <a:r>
              <a:rPr lang="en-US" sz="1400" spc="45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fusedSiLUKernel</a:t>
            </a:r>
            <a:r>
              <a:rPr lang="en-US" sz="1400" spc="45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≡ [ gate ▸ </a:t>
            </a:r>
            <a:r>
              <a:rPr lang="en-US" sz="1400" spc="45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silu</a:t>
            </a:r>
            <a:r>
              <a:rPr lang="en-US" sz="1400" spc="45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▸ residual ]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7512" y="801624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dirty="0" err="1">
                <a:solidFill>
                  <a:srgbClr val="333B45"/>
                </a:solidFill>
                <a:latin typeface="Consolas"/>
              </a:rPr>
              <a:t>unfusedSiLUKernel</a:t>
            </a:r>
            <a:r>
              <a:rPr sz="1900" b="0" dirty="0">
                <a:solidFill>
                  <a:srgbClr val="333B45"/>
                </a:solidFill>
                <a:latin typeface="Consolas"/>
              </a:rPr>
              <a:t> := seq [ gate · </a:t>
            </a:r>
            <a:r>
              <a:rPr sz="1900" b="0" dirty="0" err="1">
                <a:solidFill>
                  <a:srgbClr val="333B45"/>
                </a:solidFill>
                <a:latin typeface="Consolas"/>
              </a:rPr>
              <a:t>silu</a:t>
            </a:r>
            <a:r>
              <a:rPr sz="1900" b="0" dirty="0">
                <a:solidFill>
                  <a:srgbClr val="333B45"/>
                </a:solidFill>
                <a:latin typeface="Consolas"/>
              </a:rPr>
              <a:t> · residual ]     proven ≡ </a:t>
            </a:r>
            <a:r>
              <a:rPr sz="1900" b="0" dirty="0" err="1">
                <a:solidFill>
                  <a:srgbClr val="333B45"/>
                </a:solidFill>
                <a:latin typeface="Consolas"/>
              </a:rPr>
              <a:t>fusedSiLUKernel</a:t>
            </a:r>
            <a:endParaRPr sz="1900" b="0" dirty="0">
              <a:solidFill>
                <a:srgbClr val="333B45"/>
              </a:solidFill>
              <a:latin typeface="Consola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1ABCC1-D804-E773-57A8-C50C2E331A6E}"/>
              </a:ext>
            </a:extLst>
          </p:cNvPr>
          <p:cNvSpPr txBox="1"/>
          <p:nvPr/>
        </p:nvSpPr>
        <p:spPr>
          <a:xfrm>
            <a:off x="757311" y="2823615"/>
            <a:ext cx="41394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cap="all" spc="99" dirty="0">
                <a:solidFill>
                  <a:srgbClr val="63707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THREE KERNELS ·</a:t>
            </a:r>
            <a:r>
              <a:rPr lang="en-US" sz="1400" b="0" i="0" cap="all" spc="99" dirty="0">
                <a:solidFill>
                  <a:srgbClr val="2C333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the naive pipeline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46B300-B4C9-D864-C863-E3875179999A}"/>
              </a:ext>
            </a:extLst>
          </p:cNvPr>
          <p:cNvSpPr txBox="1"/>
          <p:nvPr/>
        </p:nvSpPr>
        <p:spPr>
          <a:xfrm>
            <a:off x="6537962" y="2823616"/>
            <a:ext cx="40550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cap="all" spc="99" dirty="0">
                <a:solidFill>
                  <a:srgbClr val="63707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ONE FUSED KERNEL ·</a:t>
            </a:r>
            <a:r>
              <a:rPr lang="en-US" sz="1400" b="0" i="0" cap="all" spc="99" dirty="0" err="1">
                <a:solidFill>
                  <a:srgbClr val="2C333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FusedSiLU.lean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98A68C0-900A-DA86-6A00-DBAE039D642B}"/>
              </a:ext>
            </a:extLst>
          </p:cNvPr>
          <p:cNvCxnSpPr/>
          <p:nvPr/>
        </p:nvCxnSpPr>
        <p:spPr>
          <a:xfrm>
            <a:off x="6172200" y="2977503"/>
            <a:ext cx="0" cy="359813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22960" y="697992"/>
            <a:ext cx="292608" cy="25400"/>
          </a:xfrm>
          <a:prstGeom prst="rect">
            <a:avLst/>
          </a:prstGeom>
          <a:solidFill>
            <a:srgbClr val="B56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43584" y="62179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00" dirty="0">
                <a:solidFill>
                  <a:srgbClr val="B56D0F"/>
                </a:solidFill>
                <a:latin typeface="Consolas"/>
              </a:rPr>
              <a:t>02   </a:t>
            </a:r>
            <a:r>
              <a:rPr sz="1250" b="0" spc="220" dirty="0">
                <a:solidFill>
                  <a:srgbClr val="B56D0F"/>
                </a:solidFill>
                <a:latin typeface="Consolas"/>
              </a:rPr>
              <a:t>SOUND FORMALIZATION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698480" cy="10656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altLang="zh-CN" sz="3300" b="1" dirty="0">
                <a:solidFill>
                  <a:srgbClr val="10141A"/>
                </a:solidFill>
                <a:latin typeface="Calibri"/>
              </a:rPr>
              <a:t>Triton semantics are precisely embedded in Lean, 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altLang="zh-CN" sz="3300" b="1" dirty="0">
                <a:solidFill>
                  <a:srgbClr val="10141A"/>
                </a:solidFill>
                <a:latin typeface="Calibri"/>
              </a:rPr>
              <a:t>instead of LLM </a:t>
            </a:r>
            <a:r>
              <a:rPr lang="en-US" altLang="zh-CN" sz="3300" b="1" dirty="0" err="1">
                <a:solidFill>
                  <a:srgbClr val="10141A"/>
                </a:solidFill>
                <a:latin typeface="Calibri"/>
              </a:rPr>
              <a:t>autoformalization</a:t>
            </a:r>
            <a:endParaRPr sz="3300" b="1" dirty="0">
              <a:solidFill>
                <a:srgbClr val="10141A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2606040"/>
            <a:ext cx="5175504" cy="2893514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2843784"/>
            <a:ext cx="46634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140" dirty="0">
                <a:solidFill>
                  <a:srgbClr val="1B9445"/>
                </a:solidFill>
                <a:latin typeface="Consolas"/>
              </a:rPr>
              <a:t>STRUCTURE · EXACT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172968"/>
            <a:ext cx="46634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0141A"/>
                </a:solidFill>
                <a:latin typeface="Calibri"/>
              </a:rPr>
              <a:t>Triton → Lean, 1 :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685032"/>
            <a:ext cx="46634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dirty="0">
                <a:solidFill>
                  <a:srgbClr val="333B45"/>
                </a:solidFill>
                <a:latin typeface="Calibri"/>
              </a:rPr>
              <a:t>The deep embedding produces a typed AST that mirrors syntax, control flow, and data flow. Bad kernels are rejected before proof begins.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2606039"/>
            <a:ext cx="5429426" cy="2893515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843784"/>
            <a:ext cx="46634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140" dirty="0">
                <a:solidFill>
                  <a:srgbClr val="B56D0F"/>
                </a:solidFill>
                <a:latin typeface="Consolas"/>
              </a:rPr>
              <a:t>SEMANTICS · CONTROLLABLE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172968"/>
            <a:ext cx="46634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0141A"/>
                </a:solidFill>
                <a:latin typeface="Calibri"/>
              </a:rPr>
              <a:t>Precision is a dial we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547872"/>
            <a:ext cx="5074920" cy="3354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2000" b="0" dirty="0">
                <a:solidFill>
                  <a:srgbClr val="333B45"/>
                </a:solidFill>
                <a:latin typeface="Calibri"/>
              </a:rPr>
              <a:t>Users</a:t>
            </a:r>
            <a:r>
              <a:rPr sz="2000" b="0" dirty="0">
                <a:solidFill>
                  <a:srgbClr val="333B45"/>
                </a:solidFill>
                <a:latin typeface="Calibri"/>
              </a:rPr>
              <a:t> choose the fidelity of each modeled effect: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19" y="4023360"/>
            <a:ext cx="157628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697280"/>
                </a:solidFill>
                <a:latin typeface="Consolas"/>
              </a:rPr>
              <a:t>floating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4828" y="4023360"/>
            <a:ext cx="3200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333B45"/>
                </a:solidFill>
                <a:latin typeface="Consolas"/>
              </a:rPr>
              <a:t>exact </a:t>
            </a:r>
            <a:r>
              <a:rPr sz="1600" b="0" dirty="0" err="1">
                <a:solidFill>
                  <a:srgbClr val="333B45"/>
                </a:solidFill>
                <a:latin typeface="Consolas"/>
              </a:rPr>
              <a:t>ℝ</a:t>
            </a:r>
            <a:r>
              <a:rPr sz="1600" b="0" dirty="0">
                <a:solidFill>
                  <a:srgbClr val="333B45"/>
                </a:solidFill>
                <a:latin typeface="Consolas"/>
              </a:rPr>
              <a:t>   →   bf16 rounding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389120"/>
            <a:ext cx="14173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697280"/>
                </a:solidFill>
                <a:latin typeface="Consolas"/>
              </a:rPr>
              <a:t>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828" y="4406758"/>
            <a:ext cx="3200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333B45"/>
                </a:solidFill>
                <a:latin typeface="Consolas"/>
              </a:rPr>
              <a:t>abstract   →   concrete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67678"/>
            <a:ext cx="4663440" cy="8176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dirty="0">
                <a:solidFill>
                  <a:srgbClr val="3C5C85"/>
                </a:solidFill>
                <a:latin typeface="Calibri"/>
              </a:rPr>
              <a:t>The gap is explicit: bounded, known, and </a:t>
            </a:r>
            <a:r>
              <a:rPr lang="en-US" sz="2000" b="0" dirty="0">
                <a:solidFill>
                  <a:srgbClr val="3C5C85"/>
                </a:solidFill>
                <a:latin typeface="Calibri"/>
              </a:rPr>
              <a:t>tighten-able</a:t>
            </a:r>
            <a:r>
              <a:rPr sz="2000" b="0" dirty="0">
                <a:solidFill>
                  <a:srgbClr val="3C5C85"/>
                </a:solidFill>
                <a:latin typeface="Calibri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69280"/>
            <a:ext cx="10698480" cy="8439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dirty="0">
                <a:solidFill>
                  <a:srgbClr val="10141A"/>
                </a:solidFill>
                <a:latin typeface="Calibri"/>
              </a:rPr>
              <a:t>Soundness rests on the theorem statement and its axiom footprint, </a:t>
            </a:r>
            <a:r>
              <a:rPr sz="2400" b="1" dirty="0">
                <a:solidFill>
                  <a:srgbClr val="10141A"/>
                </a:solidFill>
                <a:latin typeface="Calibri"/>
              </a:rPr>
              <a:t>not on </a:t>
            </a:r>
            <a:r>
              <a:rPr lang="en-US" sz="2400" b="1" dirty="0">
                <a:solidFill>
                  <a:srgbClr val="10141A"/>
                </a:solidFill>
                <a:latin typeface="Calibri"/>
              </a:rPr>
              <a:t>some implicit</a:t>
            </a:r>
            <a:r>
              <a:rPr sz="2400" b="1" dirty="0">
                <a:solidFill>
                  <a:srgbClr val="10141A"/>
                </a:solidFill>
                <a:latin typeface="Calibri"/>
              </a:rPr>
              <a:t> translation assumptions.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22960" y="697992"/>
            <a:ext cx="292608" cy="25400"/>
          </a:xfrm>
          <a:prstGeom prst="rect">
            <a:avLst/>
          </a:prstGeom>
          <a:solidFill>
            <a:srgbClr val="B56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43584" y="621792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50" b="1" spc="200" dirty="0">
                <a:solidFill>
                  <a:srgbClr val="B56D0F"/>
                </a:solidFill>
                <a:latin typeface="Consolas"/>
              </a:rPr>
              <a:t>02   </a:t>
            </a:r>
            <a:r>
              <a:rPr lang="en-US" sz="1250" spc="220" dirty="0">
                <a:solidFill>
                  <a:srgbClr val="B56D0F"/>
                </a:solidFill>
                <a:latin typeface="Consolas"/>
              </a:rPr>
              <a:t>SOUND FORMALIZATION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698480" cy="9618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3000" b="1" dirty="0">
                <a:solidFill>
                  <a:srgbClr val="10141A"/>
                </a:solidFill>
                <a:latin typeface="Calibri"/>
              </a:rPr>
              <a:t>Modeling cast as an uninterpreted function,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3000" b="1" dirty="0">
                <a:solidFill>
                  <a:srgbClr val="10141A"/>
                </a:solidFill>
                <a:latin typeface="Calibri"/>
              </a:rPr>
              <a:t>and including its axioms as the error budget</a:t>
            </a:r>
            <a:endParaRPr sz="3000" b="1" dirty="0">
              <a:solidFill>
                <a:srgbClr val="10141A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146522"/>
            <a:ext cx="1033272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lang="en-US" sz="2400" dirty="0"/>
              <a:t>Track floating-point error exactly and the worst-case bound explodes (e.g., in matrix multiplication). Instead cast stays uninterpreted — users choose which algebraic properties it obeys, trading fidelity for tractable proofs.</a:t>
            </a:r>
            <a:endParaRPr sz="2800" b="0" dirty="0">
              <a:solidFill>
                <a:srgbClr val="333B45"/>
              </a:solidFill>
              <a:latin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E0D59C-CA8A-65EE-75F4-FCF2DEA728CC}"/>
              </a:ext>
            </a:extLst>
          </p:cNvPr>
          <p:cNvSpPr txBox="1"/>
          <p:nvPr/>
        </p:nvSpPr>
        <p:spPr>
          <a:xfrm>
            <a:off x="746760" y="3473080"/>
            <a:ext cx="32918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60" dirty="0">
                <a:solidFill>
                  <a:srgbClr val="697280"/>
                </a:solidFill>
                <a:latin typeface="Consolas"/>
              </a:rPr>
              <a:t>← ASSUME LESS · TIGHTER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3A7152-36F9-C333-0157-3AC8533EF57E}"/>
              </a:ext>
            </a:extLst>
          </p:cNvPr>
          <p:cNvSpPr txBox="1"/>
          <p:nvPr/>
        </p:nvSpPr>
        <p:spPr>
          <a:xfrm>
            <a:off x="3714560" y="3504004"/>
            <a:ext cx="3931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60" dirty="0">
                <a:solidFill>
                  <a:srgbClr val="B56D0F"/>
                </a:solidFill>
                <a:latin typeface="Consolas"/>
              </a:rPr>
              <a:t>more axioms → more error tolerated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6AB033-BDB2-91F6-B6D4-5AF2260C504A}"/>
              </a:ext>
            </a:extLst>
          </p:cNvPr>
          <p:cNvSpPr txBox="1"/>
          <p:nvPr/>
        </p:nvSpPr>
        <p:spPr>
          <a:xfrm>
            <a:off x="7899080" y="3504004"/>
            <a:ext cx="32918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60" dirty="0">
                <a:solidFill>
                  <a:srgbClr val="697280"/>
                </a:solidFill>
                <a:latin typeface="Consolas"/>
              </a:rPr>
              <a:t>ASSUME MORE · MORE TOLERANT →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83353BA-569D-EF6A-823A-7C24A5E06AD6}"/>
              </a:ext>
            </a:extLst>
          </p:cNvPr>
          <p:cNvSpPr/>
          <p:nvPr/>
        </p:nvSpPr>
        <p:spPr>
          <a:xfrm>
            <a:off x="746760" y="3793120"/>
            <a:ext cx="5266944" cy="50292"/>
          </a:xfrm>
          <a:prstGeom prst="rect">
            <a:avLst/>
          </a:prstGeom>
          <a:solidFill>
            <a:srgbClr val="1B9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1BC7FE-462A-09CD-DEBE-452F527EBC68}"/>
              </a:ext>
            </a:extLst>
          </p:cNvPr>
          <p:cNvSpPr/>
          <p:nvPr/>
        </p:nvSpPr>
        <p:spPr>
          <a:xfrm>
            <a:off x="6013704" y="3793120"/>
            <a:ext cx="5276088" cy="50292"/>
          </a:xfrm>
          <a:prstGeom prst="rect">
            <a:avLst/>
          </a:prstGeom>
          <a:solidFill>
            <a:srgbClr val="B56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24293A2-3B1C-0668-36A4-A5997F0F39A2}"/>
              </a:ext>
            </a:extLst>
          </p:cNvPr>
          <p:cNvSpPr/>
          <p:nvPr/>
        </p:nvSpPr>
        <p:spPr>
          <a:xfrm>
            <a:off x="746760" y="4021720"/>
            <a:ext cx="5175504" cy="2035614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CC1EBFD-B40D-6244-B074-1BD5DD9AA7BA}"/>
              </a:ext>
            </a:extLst>
          </p:cNvPr>
          <p:cNvSpPr txBox="1"/>
          <p:nvPr/>
        </p:nvSpPr>
        <p:spPr>
          <a:xfrm>
            <a:off x="1002792" y="4222888"/>
            <a:ext cx="46634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140" dirty="0">
                <a:solidFill>
                  <a:srgbClr val="1B9445"/>
                </a:solidFill>
                <a:latin typeface="Consolas"/>
              </a:rPr>
              <a:t>BASELINE · IDEMPOTENT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90804F3-533B-B711-0BC0-C7FAB8AB8AB9}"/>
              </a:ext>
            </a:extLst>
          </p:cNvPr>
          <p:cNvSpPr txBox="1"/>
          <p:nvPr/>
        </p:nvSpPr>
        <p:spPr>
          <a:xfrm>
            <a:off x="1002792" y="4552072"/>
            <a:ext cx="46634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0141A"/>
                </a:solidFill>
                <a:latin typeface="Consolas"/>
              </a:rPr>
              <a:t>cast (cast x) = cast x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58ED1F-4327-B588-4CB7-2B86EA58219C}"/>
              </a:ext>
            </a:extLst>
          </p:cNvPr>
          <p:cNvSpPr txBox="1"/>
          <p:nvPr/>
        </p:nvSpPr>
        <p:spPr>
          <a:xfrm>
            <a:off x="1002792" y="4975508"/>
            <a:ext cx="4663440" cy="944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333B45"/>
                </a:solidFill>
                <a:latin typeface="Calibri"/>
              </a:rPr>
              <a:t>Almost always true of real rounding — the safe floor. It is the defining field of every </a:t>
            </a:r>
            <a:r>
              <a:rPr b="0" dirty="0" err="1">
                <a:solidFill>
                  <a:srgbClr val="333B45"/>
                </a:solidFill>
                <a:latin typeface="Calibri"/>
              </a:rPr>
              <a:t>RoundingModel</a:t>
            </a:r>
            <a:r>
              <a:rPr b="0" dirty="0">
                <a:solidFill>
                  <a:srgbClr val="333B45"/>
                </a:solidFill>
                <a:latin typeface="Calibri"/>
              </a:rPr>
              <a:t>.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A4D2AEA7-A388-B733-748A-D09799714616}"/>
              </a:ext>
            </a:extLst>
          </p:cNvPr>
          <p:cNvSpPr/>
          <p:nvPr/>
        </p:nvSpPr>
        <p:spPr>
          <a:xfrm>
            <a:off x="6114288" y="4021720"/>
            <a:ext cx="5175504" cy="2035614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8DBE9F4-B487-D6E5-CEFD-ACB60B2DF03A}"/>
              </a:ext>
            </a:extLst>
          </p:cNvPr>
          <p:cNvSpPr txBox="1"/>
          <p:nvPr/>
        </p:nvSpPr>
        <p:spPr>
          <a:xfrm>
            <a:off x="6370320" y="4222888"/>
            <a:ext cx="46634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140" dirty="0">
                <a:solidFill>
                  <a:srgbClr val="B56D0F"/>
                </a:solidFill>
                <a:latin typeface="Consolas"/>
              </a:rPr>
              <a:t>HIGH TOLERANCE · DISTRIBUTIVE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AE4381E-49DF-3AA2-49BB-8C317B1E0CAB}"/>
              </a:ext>
            </a:extLst>
          </p:cNvPr>
          <p:cNvSpPr txBox="1"/>
          <p:nvPr/>
        </p:nvSpPr>
        <p:spPr>
          <a:xfrm>
            <a:off x="6370320" y="4552072"/>
            <a:ext cx="46634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0141A"/>
                </a:solidFill>
                <a:latin typeface="Consolas"/>
              </a:rPr>
              <a:t>cast a · cast b = cast (a · b)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5D7B201-AEFD-1C9F-96FE-7286E3BCC46E}"/>
              </a:ext>
            </a:extLst>
          </p:cNvPr>
          <p:cNvSpPr txBox="1"/>
          <p:nvPr/>
        </p:nvSpPr>
        <p:spPr>
          <a:xfrm>
            <a:off x="6370320" y="4961440"/>
            <a:ext cx="4663440" cy="944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333B45"/>
                </a:solidFill>
                <a:latin typeface="Calibri"/>
              </a:rPr>
              <a:t>Cast commutes with the op — not exactly true, so assuming it spends error budget. Buys far simpler proofs.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5680006-87A4-B5C9-2375-64D3B92E940E}"/>
              </a:ext>
            </a:extLst>
          </p:cNvPr>
          <p:cNvSpPr txBox="1"/>
          <p:nvPr/>
        </p:nvSpPr>
        <p:spPr>
          <a:xfrm>
            <a:off x="746760" y="6157918"/>
            <a:ext cx="10698480" cy="333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333B45"/>
                </a:solidFill>
                <a:latin typeface="Calibri"/>
              </a:rPr>
              <a:t>The axiom set is a dial: pick it for your error tolerance. Nothing is assumed silently</a:t>
            </a:r>
            <a:r>
              <a:rPr lang="en-US" sz="2000" b="0" dirty="0">
                <a:solidFill>
                  <a:srgbClr val="333B45"/>
                </a:solidFill>
                <a:latin typeface="Calibri"/>
              </a:rPr>
              <a:t>.</a:t>
            </a:r>
            <a:endParaRPr sz="2000" b="0" dirty="0">
              <a:solidFill>
                <a:srgbClr val="333B4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22960" y="697992"/>
            <a:ext cx="292608" cy="25400"/>
          </a:xfrm>
          <a:prstGeom prst="rect">
            <a:avLst/>
          </a:prstGeom>
          <a:solidFill>
            <a:srgbClr val="B56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43584" y="62179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00" dirty="0">
                <a:solidFill>
                  <a:srgbClr val="B56D0F"/>
                </a:solidFill>
                <a:latin typeface="Consolas"/>
              </a:rPr>
              <a:t>03  </a:t>
            </a:r>
            <a:r>
              <a:rPr sz="1250" b="0" spc="220" dirty="0">
                <a:solidFill>
                  <a:srgbClr val="B56D0F"/>
                </a:solidFill>
                <a:latin typeface="Consolas"/>
              </a:rPr>
              <a:t>EXPRESSIVE CORRECTNESS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1018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dirty="0">
                <a:solidFill>
                  <a:srgbClr val="10141A"/>
                </a:solidFill>
                <a:latin typeface="Calibri"/>
              </a:rPr>
              <a:t>We prove what the kernel</a:t>
            </a:r>
            <a:r>
              <a:rPr lang="en-US" sz="3300" b="1" dirty="0">
                <a:solidFill>
                  <a:srgbClr val="10141A"/>
                </a:solidFill>
                <a:latin typeface="Calibri"/>
              </a:rPr>
              <a:t> computes</a:t>
            </a:r>
            <a:r>
              <a:rPr sz="3300" b="1" dirty="0">
                <a:solidFill>
                  <a:srgbClr val="10141A"/>
                </a:solidFill>
                <a:latin typeface="Calibri"/>
              </a:rPr>
              <a:t> —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300" b="1" dirty="0">
                <a:solidFill>
                  <a:srgbClr val="10141A"/>
                </a:solidFill>
                <a:latin typeface="Calibri"/>
              </a:rPr>
              <a:t>down to the last value</a:t>
            </a:r>
            <a:r>
              <a:rPr sz="3300" b="1" dirty="0">
                <a:solidFill>
                  <a:srgbClr val="10141A"/>
                </a:solidFill>
                <a:latin typeface="Calibri"/>
              </a:rPr>
              <a:t>.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49D9A3D-2B42-7200-1A1E-42938FC51A66}"/>
              </a:ext>
            </a:extLst>
          </p:cNvPr>
          <p:cNvSpPr/>
          <p:nvPr/>
        </p:nvSpPr>
        <p:spPr>
          <a:xfrm>
            <a:off x="822960" y="2542032"/>
            <a:ext cx="5175504" cy="274320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B62971-34AE-1CA3-3D64-6C86096E37A0}"/>
              </a:ext>
            </a:extLst>
          </p:cNvPr>
          <p:cNvSpPr txBox="1"/>
          <p:nvPr/>
        </p:nvSpPr>
        <p:spPr>
          <a:xfrm>
            <a:off x="1097280" y="2761488"/>
            <a:ext cx="462686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140" dirty="0">
                <a:solidFill>
                  <a:srgbClr val="697280"/>
                </a:solidFill>
                <a:latin typeface="Consolas"/>
              </a:rPr>
              <a:t>SURFACE ONE · </a:t>
            </a:r>
            <a:r>
              <a:rPr sz="1400" b="0" i="0" spc="140" dirty="0">
                <a:solidFill>
                  <a:srgbClr val="B56D0F"/>
                </a:solidFill>
                <a:latin typeface="Consolas"/>
              </a:rPr>
              <a:t>REALIZES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8585EC-BABF-1095-4E4D-1B485924F35D}"/>
              </a:ext>
            </a:extLst>
          </p:cNvPr>
          <p:cNvSpPr txBox="1"/>
          <p:nvPr/>
        </p:nvSpPr>
        <p:spPr>
          <a:xfrm>
            <a:off x="1097280" y="3133410"/>
            <a:ext cx="4626864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dirty="0">
                <a:solidFill>
                  <a:srgbClr val="10141A"/>
                </a:solidFill>
                <a:latin typeface="Calibri"/>
              </a:rPr>
              <a:t>kernel </a:t>
            </a:r>
            <a:r>
              <a:rPr sz="2100" b="0" i="0" dirty="0">
                <a:solidFill>
                  <a:srgbClr val="697280"/>
                </a:solidFill>
                <a:latin typeface="Calibri"/>
              </a:rPr>
              <a:t> vs </a:t>
            </a:r>
            <a:r>
              <a:rPr sz="2100" b="1" i="0" dirty="0">
                <a:solidFill>
                  <a:srgbClr val="10141A"/>
                </a:solidFill>
                <a:latin typeface="Calibri"/>
              </a:rPr>
              <a:t> math spec</a:t>
            </a:r>
            <a:r>
              <a:rPr lang="en-US" sz="2100" b="1" dirty="0">
                <a:solidFill>
                  <a:srgbClr val="10141A"/>
                </a:solidFill>
                <a:latin typeface="Calibri"/>
              </a:rPr>
              <a:t> (correctness)</a:t>
            </a:r>
            <a:endParaRPr sz="2100" b="1" i="0" dirty="0">
              <a:solidFill>
                <a:srgbClr val="10141A"/>
              </a:solidFill>
              <a:latin typeface="Calibri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AE8972D8-F9EF-6A3B-3FDB-74BB268F509C}"/>
              </a:ext>
            </a:extLst>
          </p:cNvPr>
          <p:cNvSpPr/>
          <p:nvPr/>
        </p:nvSpPr>
        <p:spPr>
          <a:xfrm>
            <a:off x="1097280" y="3712464"/>
            <a:ext cx="4626864" cy="603504"/>
          </a:xfrm>
          <a:prstGeom prst="roundRect">
            <a:avLst>
              <a:gd name="adj" fmla="val 8000"/>
            </a:avLst>
          </a:prstGeom>
          <a:solidFill>
            <a:srgbClr val="E9EDF2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08C5C0-5C03-5517-4013-6A5C11B0B210}"/>
              </a:ext>
            </a:extLst>
          </p:cNvPr>
          <p:cNvSpPr txBox="1"/>
          <p:nvPr/>
        </p:nvSpPr>
        <p:spPr>
          <a:xfrm>
            <a:off x="1097280" y="3712464"/>
            <a:ext cx="462686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dirty="0">
                <a:solidFill>
                  <a:srgbClr val="10141A"/>
                </a:solidFill>
                <a:latin typeface="Consolas"/>
              </a:rPr>
              <a:t>out = </a:t>
            </a:r>
            <a:r>
              <a:rPr sz="2000" b="1" i="0" dirty="0">
                <a:solidFill>
                  <a:srgbClr val="B56D0F"/>
                </a:solidFill>
                <a:latin typeface="Consolas"/>
              </a:rPr>
              <a:t>f</a:t>
            </a:r>
            <a:r>
              <a:rPr sz="2000" b="0" i="0" dirty="0">
                <a:solidFill>
                  <a:srgbClr val="10141A"/>
                </a:solidFill>
                <a:latin typeface="Consolas"/>
              </a:rPr>
              <a:t>(input)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3A1FD3-C402-4883-05D5-9F49394E8F84}"/>
              </a:ext>
            </a:extLst>
          </p:cNvPr>
          <p:cNvSpPr txBox="1"/>
          <p:nvPr/>
        </p:nvSpPr>
        <p:spPr>
          <a:xfrm>
            <a:off x="1097280" y="4425696"/>
            <a:ext cx="462686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697280"/>
                </a:solidFill>
                <a:latin typeface="Consolas"/>
              </a:rPr>
              <a:t>out[</a:t>
            </a:r>
            <a:r>
              <a:rPr sz="1400" b="0" i="0" dirty="0" err="1">
                <a:solidFill>
                  <a:srgbClr val="697280"/>
                </a:solidFill>
                <a:latin typeface="Consolas"/>
              </a:rPr>
              <a:t>i</a:t>
            </a:r>
            <a:r>
              <a:rPr sz="1400" b="0" i="0" dirty="0">
                <a:solidFill>
                  <a:srgbClr val="697280"/>
                </a:solidFill>
                <a:latin typeface="Consolas"/>
              </a:rPr>
              <a:t>] = log </a:t>
            </a:r>
            <a:r>
              <a:rPr sz="1400" b="0" i="0" dirty="0" err="1">
                <a:solidFill>
                  <a:srgbClr val="697280"/>
                </a:solidFill>
                <a:latin typeface="Consolas"/>
              </a:rPr>
              <a:t>Σ</a:t>
            </a:r>
            <a:r>
              <a:rPr sz="1400" b="0" i="0" dirty="0">
                <a:solidFill>
                  <a:srgbClr val="697280"/>
                </a:solidFill>
                <a:latin typeface="Consolas"/>
              </a:rPr>
              <a:t> exp(x)ᵢ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3899D5-3822-CBAE-0387-67D5042E8715}"/>
              </a:ext>
            </a:extLst>
          </p:cNvPr>
          <p:cNvSpPr txBox="1"/>
          <p:nvPr/>
        </p:nvSpPr>
        <p:spPr>
          <a:xfrm>
            <a:off x="1097280" y="4858920"/>
            <a:ext cx="4626864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 dirty="0">
                <a:solidFill>
                  <a:srgbClr val="333B45"/>
                </a:solidFill>
                <a:latin typeface="Calibri"/>
              </a:rPr>
              <a:t>“Is it the right math</a:t>
            </a:r>
            <a:r>
              <a:rPr lang="en-US" sz="1500" b="0" i="1" dirty="0">
                <a:solidFill>
                  <a:srgbClr val="333B45"/>
                </a:solidFill>
                <a:latin typeface="Calibri"/>
              </a:rPr>
              <a:t> (drop the floating-point)</a:t>
            </a:r>
            <a:r>
              <a:rPr sz="1500" b="0" i="1" dirty="0">
                <a:solidFill>
                  <a:srgbClr val="333B45"/>
                </a:solidFill>
                <a:latin typeface="Calibri"/>
              </a:rPr>
              <a:t>?”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2722B546-5D8A-B32E-CAEE-9C58E4FF2B2B}"/>
              </a:ext>
            </a:extLst>
          </p:cNvPr>
          <p:cNvSpPr/>
          <p:nvPr/>
        </p:nvSpPr>
        <p:spPr>
          <a:xfrm>
            <a:off x="6190488" y="2542032"/>
            <a:ext cx="5175504" cy="274320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D70C12-9B38-BEB2-8365-433DE4EC87EC}"/>
              </a:ext>
            </a:extLst>
          </p:cNvPr>
          <p:cNvSpPr txBox="1"/>
          <p:nvPr/>
        </p:nvSpPr>
        <p:spPr>
          <a:xfrm>
            <a:off x="6464808" y="2761488"/>
            <a:ext cx="462686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140" dirty="0">
                <a:solidFill>
                  <a:srgbClr val="697280"/>
                </a:solidFill>
                <a:latin typeface="Consolas"/>
              </a:rPr>
              <a:t>SURFACE TWO · </a:t>
            </a:r>
            <a:r>
              <a:rPr sz="1400" b="0" i="0" spc="140" dirty="0">
                <a:solidFill>
                  <a:srgbClr val="B56D0F"/>
                </a:solidFill>
                <a:latin typeface="Consolas"/>
              </a:rPr>
              <a:t>REFINES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A64064-5ADA-8289-B30F-B3E992FF533F}"/>
              </a:ext>
            </a:extLst>
          </p:cNvPr>
          <p:cNvSpPr txBox="1"/>
          <p:nvPr/>
        </p:nvSpPr>
        <p:spPr>
          <a:xfrm>
            <a:off x="6464808" y="3090672"/>
            <a:ext cx="4626864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dirty="0">
                <a:solidFill>
                  <a:srgbClr val="10141A"/>
                </a:solidFill>
                <a:latin typeface="Calibri"/>
              </a:rPr>
              <a:t>kernel </a:t>
            </a:r>
            <a:r>
              <a:rPr sz="2100" b="0" i="0" dirty="0">
                <a:solidFill>
                  <a:srgbClr val="697280"/>
                </a:solidFill>
                <a:latin typeface="Calibri"/>
              </a:rPr>
              <a:t> vs </a:t>
            </a:r>
            <a:r>
              <a:rPr sz="2100" b="1" i="0" dirty="0">
                <a:solidFill>
                  <a:srgbClr val="10141A"/>
                </a:solidFill>
                <a:latin typeface="Calibri"/>
              </a:rPr>
              <a:t> kernel</a:t>
            </a:r>
            <a:r>
              <a:rPr lang="en-US" sz="2100" b="1" i="0" dirty="0">
                <a:solidFill>
                  <a:srgbClr val="10141A"/>
                </a:solidFill>
                <a:latin typeface="Calibri"/>
              </a:rPr>
              <a:t> (refinement)</a:t>
            </a:r>
            <a:endParaRPr sz="2100" b="1" i="0" dirty="0">
              <a:solidFill>
                <a:srgbClr val="10141A"/>
              </a:solidFill>
              <a:latin typeface="Calibri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40DA7C26-69C1-E169-D6DA-2E9DFB2BCC9E}"/>
              </a:ext>
            </a:extLst>
          </p:cNvPr>
          <p:cNvSpPr/>
          <p:nvPr/>
        </p:nvSpPr>
        <p:spPr>
          <a:xfrm>
            <a:off x="6464808" y="3712464"/>
            <a:ext cx="4626864" cy="603504"/>
          </a:xfrm>
          <a:prstGeom prst="roundRect">
            <a:avLst>
              <a:gd name="adj" fmla="val 8000"/>
            </a:avLst>
          </a:prstGeom>
          <a:solidFill>
            <a:srgbClr val="E9EDF2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DC3A52-8C4B-B2D9-9061-F9CA77EDF8C3}"/>
              </a:ext>
            </a:extLst>
          </p:cNvPr>
          <p:cNvSpPr txBox="1"/>
          <p:nvPr/>
        </p:nvSpPr>
        <p:spPr>
          <a:xfrm>
            <a:off x="6464808" y="3712464"/>
            <a:ext cx="462686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dirty="0">
                <a:solidFill>
                  <a:srgbClr val="10141A"/>
                </a:solidFill>
                <a:latin typeface="Consolas"/>
              </a:rPr>
              <a:t>fast </a:t>
            </a:r>
            <a:r>
              <a:rPr sz="2000" b="1" i="0" dirty="0">
                <a:solidFill>
                  <a:srgbClr val="B56D0F"/>
                </a:solidFill>
                <a:latin typeface="Consolas"/>
              </a:rPr>
              <a:t>≡</a:t>
            </a:r>
            <a:r>
              <a:rPr sz="2000" b="0" i="0" dirty="0">
                <a:solidFill>
                  <a:srgbClr val="10141A"/>
                </a:solidFill>
                <a:latin typeface="Consolas"/>
              </a:rPr>
              <a:t> reference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785F139-BC39-5ECA-5AC2-D746C1665D48}"/>
              </a:ext>
            </a:extLst>
          </p:cNvPr>
          <p:cNvSpPr txBox="1"/>
          <p:nvPr/>
        </p:nvSpPr>
        <p:spPr>
          <a:xfrm>
            <a:off x="6464808" y="4425696"/>
            <a:ext cx="462686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697280"/>
                </a:solidFill>
                <a:latin typeface="Consolas"/>
              </a:rPr>
              <a:t>fusedSiLU</a:t>
            </a:r>
            <a:r>
              <a:rPr sz="1400" b="0" i="0" dirty="0">
                <a:solidFill>
                  <a:srgbClr val="697280"/>
                </a:solidFill>
                <a:latin typeface="Consolas"/>
              </a:rPr>
              <a:t> ≡ </a:t>
            </a:r>
            <a:r>
              <a:rPr sz="1400" b="0" i="0" dirty="0" err="1">
                <a:solidFill>
                  <a:srgbClr val="697280"/>
                </a:solidFill>
                <a:latin typeface="Consolas"/>
              </a:rPr>
              <a:t>unfusedSiLU</a:t>
            </a:r>
            <a:endParaRPr sz="1400" b="0" i="0" dirty="0">
              <a:solidFill>
                <a:srgbClr val="697280"/>
              </a:solidFill>
              <a:latin typeface="Consola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82418E-66D6-BD1D-352E-E040A888AE34}"/>
              </a:ext>
            </a:extLst>
          </p:cNvPr>
          <p:cNvSpPr txBox="1"/>
          <p:nvPr/>
        </p:nvSpPr>
        <p:spPr>
          <a:xfrm>
            <a:off x="6464808" y="4809744"/>
            <a:ext cx="462686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333B45"/>
                </a:solidFill>
                <a:latin typeface="Calibri"/>
              </a:rPr>
              <a:t>“Did the optimization change any value?”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D711F7C0-0760-717A-839C-C525C7BE51AF}"/>
              </a:ext>
            </a:extLst>
          </p:cNvPr>
          <p:cNvSpPr/>
          <p:nvPr/>
        </p:nvSpPr>
        <p:spPr>
          <a:xfrm>
            <a:off x="822960" y="5532120"/>
            <a:ext cx="10543032" cy="713232"/>
          </a:xfrm>
          <a:prstGeom prst="roundRect">
            <a:avLst>
              <a:gd name="adj" fmla="val 10000"/>
            </a:avLst>
          </a:prstGeom>
          <a:noFill/>
          <a:ln w="1905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D5244A6-89CA-47C1-E95E-8F0C7BC1FF05}"/>
              </a:ext>
            </a:extLst>
          </p:cNvPr>
          <p:cNvSpPr txBox="1"/>
          <p:nvPr/>
        </p:nvSpPr>
        <p:spPr>
          <a:xfrm>
            <a:off x="1026940" y="5591668"/>
            <a:ext cx="10204704" cy="5941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600" b="0" i="0" spc="140" dirty="0">
                <a:solidFill>
                  <a:srgbClr val="697280"/>
                </a:solidFill>
                <a:latin typeface="Consolas"/>
              </a:rPr>
              <a:t>BOTH SURFACES ARE </a:t>
            </a:r>
            <a:r>
              <a:rPr lang="en-US" sz="1600" b="0" i="0" spc="140" dirty="0">
                <a:solidFill>
                  <a:srgbClr val="697280"/>
                </a:solidFill>
                <a:latin typeface="Consolas"/>
              </a:rPr>
              <a:t> </a:t>
            </a:r>
            <a:r>
              <a:rPr lang="en-US" sz="1600" dirty="0">
                <a:solidFill>
                  <a:srgbClr val="697280"/>
                </a:solidFill>
              </a:rPr>
              <a:t>·</a:t>
            </a:r>
            <a:r>
              <a:rPr sz="1600" b="0" i="0" spc="140" dirty="0">
                <a:solidFill>
                  <a:srgbClr val="697280"/>
                </a:solidFill>
                <a:latin typeface="Consolas"/>
              </a:rPr>
              <a:t> </a:t>
            </a:r>
            <a:r>
              <a:rPr lang="en-US" sz="1600" b="0" i="0" spc="140" dirty="0">
                <a:solidFill>
                  <a:srgbClr val="697280"/>
                </a:solidFill>
                <a:latin typeface="Consolas"/>
              </a:rPr>
              <a:t> </a:t>
            </a:r>
            <a:r>
              <a:rPr b="1" i="0" dirty="0">
                <a:solidFill>
                  <a:srgbClr val="10141A"/>
                </a:solidFill>
                <a:latin typeface="Calibri"/>
              </a:rPr>
              <a:t>Genuine</a:t>
            </a:r>
            <a:r>
              <a:rPr b="0" i="0" dirty="0">
                <a:solidFill>
                  <a:srgbClr val="333B45"/>
                </a:solidFill>
                <a:latin typeface="Calibri"/>
              </a:rPr>
              <a:t> — </a:t>
            </a:r>
            <a:r>
              <a:rPr i="0" dirty="0">
                <a:solidFill>
                  <a:srgbClr val="333B45"/>
                </a:solidFill>
                <a:latin typeface="Calibri"/>
              </a:rPr>
              <a:t>specs read inputs, never the output they judge</a:t>
            </a:r>
            <a:r>
              <a:rPr lang="zh-CN" altLang="en-US" i="0" dirty="0">
                <a:solidFill>
                  <a:srgbClr val="333B45"/>
                </a:solidFill>
                <a:latin typeface="Calibri"/>
              </a:rPr>
              <a:t> </a:t>
            </a:r>
            <a:r>
              <a:rPr lang="en-US" altLang="zh-CN" i="0" dirty="0">
                <a:solidFill>
                  <a:srgbClr val="333B45"/>
                </a:solidFill>
                <a:latin typeface="Calibri"/>
              </a:rPr>
              <a:t>(no output = output)</a:t>
            </a:r>
            <a:r>
              <a:rPr i="0" dirty="0">
                <a:solidFill>
                  <a:srgbClr val="333B45"/>
                </a:solidFill>
                <a:latin typeface="Calibri"/>
              </a:rPr>
              <a:t> </a:t>
            </a:r>
            <a:endParaRPr lang="en-US" i="0" dirty="0">
              <a:solidFill>
                <a:srgbClr val="333B45"/>
              </a:solidFill>
              <a:latin typeface="Calibr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333B45"/>
                </a:solidFill>
                <a:latin typeface="Calibri"/>
              </a:rPr>
              <a:t>					   </a:t>
            </a:r>
            <a:r>
              <a:rPr b="0" i="0" dirty="0">
                <a:solidFill>
                  <a:srgbClr val="697280"/>
                </a:solidFill>
                <a:latin typeface="Calibri"/>
              </a:rPr>
              <a:t>·     </a:t>
            </a:r>
            <a:r>
              <a:rPr b="1" i="0" dirty="0">
                <a:solidFill>
                  <a:srgbClr val="10141A"/>
                </a:solidFill>
                <a:latin typeface="Calibri"/>
              </a:rPr>
              <a:t>General</a:t>
            </a:r>
            <a:r>
              <a:rPr b="0" i="0" dirty="0">
                <a:solidFill>
                  <a:srgbClr val="333B45"/>
                </a:solidFill>
                <a:latin typeface="Calibri"/>
              </a:rPr>
              <a:t> — every shape, stride, and flag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A0C5C5D-825D-F77D-DB0F-727029B6B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3385D21-E285-563C-2155-15855F02D572}"/>
              </a:ext>
            </a:extLst>
          </p:cNvPr>
          <p:cNvSpPr/>
          <p:nvPr/>
        </p:nvSpPr>
        <p:spPr>
          <a:xfrm>
            <a:off x="822960" y="697992"/>
            <a:ext cx="292608" cy="25400"/>
          </a:xfrm>
          <a:prstGeom prst="rect">
            <a:avLst/>
          </a:prstGeom>
          <a:solidFill>
            <a:srgbClr val="B56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653F83-3BB5-8970-1599-33280E03F18B}"/>
              </a:ext>
            </a:extLst>
          </p:cNvPr>
          <p:cNvSpPr txBox="1"/>
          <p:nvPr/>
        </p:nvSpPr>
        <p:spPr>
          <a:xfrm>
            <a:off x="1243584" y="62179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00" dirty="0">
                <a:solidFill>
                  <a:srgbClr val="B56D0F"/>
                </a:solidFill>
                <a:latin typeface="Consolas"/>
              </a:rPr>
              <a:t>03  </a:t>
            </a:r>
            <a:r>
              <a:rPr sz="1250" b="0" spc="220" dirty="0">
                <a:solidFill>
                  <a:srgbClr val="B56D0F"/>
                </a:solidFill>
                <a:latin typeface="Consolas"/>
              </a:rPr>
              <a:t>EXPRESSIVE CORRECTNESS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0F5754-12B3-27B5-8D0A-B6506C6896F5}"/>
              </a:ext>
            </a:extLst>
          </p:cNvPr>
          <p:cNvSpPr txBox="1"/>
          <p:nvPr/>
        </p:nvSpPr>
        <p:spPr>
          <a:xfrm>
            <a:off x="822960" y="1097280"/>
            <a:ext cx="10515600" cy="1120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3000"/>
              </a:lnSpc>
            </a:pPr>
            <a:r>
              <a:rPr lang="en-US" sz="3600" b="1" dirty="0">
                <a:solidFill>
                  <a:srgbClr val="10141A"/>
                </a:solidFill>
              </a:rPr>
              <a:t>The output is log-sum-exp of the input.</a:t>
            </a:r>
          </a:p>
          <a:p>
            <a:pPr>
              <a:lnSpc>
                <a:spcPct val="103000"/>
              </a:lnSpc>
            </a:pPr>
            <a:r>
              <a:rPr lang="en-US" sz="3600" b="1" dirty="0">
                <a:solidFill>
                  <a:srgbClr val="10141A"/>
                </a:solidFill>
              </a:rPr>
              <a:t>Proven — for every row width.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DF4E35-E807-981F-D8DA-723DF854ACC8}"/>
              </a:ext>
            </a:extLst>
          </p:cNvPr>
          <p:cNvSpPr txBox="1"/>
          <p:nvPr/>
        </p:nvSpPr>
        <p:spPr>
          <a:xfrm>
            <a:off x="822960" y="2606040"/>
            <a:ext cx="49377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dirty="0">
                <a:solidFill>
                  <a:srgbClr val="333B45"/>
                </a:solidFill>
                <a:latin typeface="Calibri"/>
              </a:rPr>
              <a:t>The theorem says the row output is exactly log </a:t>
            </a:r>
            <a:r>
              <a:rPr sz="2100" b="0" dirty="0" err="1">
                <a:solidFill>
                  <a:srgbClr val="333B45"/>
                </a:solidFill>
                <a:latin typeface="Calibri"/>
              </a:rPr>
              <a:t>Σ</a:t>
            </a:r>
            <a:r>
              <a:rPr sz="2100" b="0" dirty="0">
                <a:solidFill>
                  <a:srgbClr val="333B45"/>
                </a:solidFill>
                <a:latin typeface="Calibri"/>
              </a:rPr>
              <a:t> exp(xᵢ). The spec is a named math function over input memory.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0A1F41-D580-29E9-C5B5-8513DC7C0F90}"/>
              </a:ext>
            </a:extLst>
          </p:cNvPr>
          <p:cNvSpPr/>
          <p:nvPr/>
        </p:nvSpPr>
        <p:spPr>
          <a:xfrm>
            <a:off x="868680" y="4233672"/>
            <a:ext cx="118872" cy="118872"/>
          </a:xfrm>
          <a:prstGeom prst="rect">
            <a:avLst/>
          </a:prstGeom>
          <a:solidFill>
            <a:srgbClr val="B56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8A82E9-91BC-90B9-8444-9A674A29418F}"/>
              </a:ext>
            </a:extLst>
          </p:cNvPr>
          <p:cNvSpPr txBox="1"/>
          <p:nvPr/>
        </p:nvSpPr>
        <p:spPr>
          <a:xfrm>
            <a:off x="1143000" y="4091940"/>
            <a:ext cx="4526280" cy="353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dirty="0">
                <a:solidFill>
                  <a:srgbClr val="333B45"/>
                </a:solidFill>
                <a:latin typeface="Calibri"/>
              </a:rPr>
              <a:t>Closed</a:t>
            </a:r>
            <a:r>
              <a:rPr lang="en-US" sz="2200" b="0" dirty="0">
                <a:solidFill>
                  <a:srgbClr val="333B45"/>
                </a:solidFill>
                <a:latin typeface="Calibri"/>
              </a:rPr>
              <a:t>-</a:t>
            </a:r>
            <a:r>
              <a:rPr sz="2200" b="0" dirty="0">
                <a:solidFill>
                  <a:srgbClr val="333B45"/>
                </a:solidFill>
                <a:latin typeface="Calibri"/>
              </a:rPr>
              <a:t>form over INPUT memory.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7836B9-9ADA-AEEE-14FA-EFC53D634587}"/>
              </a:ext>
            </a:extLst>
          </p:cNvPr>
          <p:cNvSpPr/>
          <p:nvPr/>
        </p:nvSpPr>
        <p:spPr>
          <a:xfrm>
            <a:off x="868680" y="4965192"/>
            <a:ext cx="118872" cy="118872"/>
          </a:xfrm>
          <a:prstGeom prst="rect">
            <a:avLst/>
          </a:prstGeom>
          <a:solidFill>
            <a:srgbClr val="B56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78AE66-FE55-AAD7-D943-41C3CAC68546}"/>
              </a:ext>
            </a:extLst>
          </p:cNvPr>
          <p:cNvSpPr txBox="1"/>
          <p:nvPr/>
        </p:nvSpPr>
        <p:spPr>
          <a:xfrm>
            <a:off x="1143000" y="4812609"/>
            <a:ext cx="4526280" cy="7261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dirty="0">
                <a:solidFill>
                  <a:srgbClr val="333B45"/>
                </a:solidFill>
                <a:latin typeface="Calibri"/>
              </a:rPr>
              <a:t>All row widths; no</a:t>
            </a:r>
            <a:r>
              <a:rPr lang="en-US" sz="2200" b="0" dirty="0">
                <a:solidFill>
                  <a:srgbClr val="333B45"/>
                </a:solidFill>
                <a:latin typeface="Calibri"/>
              </a:rPr>
              <a:t>t any specific </a:t>
            </a:r>
            <a:r>
              <a:rPr sz="2200" b="0" dirty="0">
                <a:solidFill>
                  <a:srgbClr val="333B45"/>
                </a:solidFill>
                <a:latin typeface="Calibri"/>
              </a:rPr>
              <a:t>test shape.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078C8B-4308-0342-A88A-281CA444D59A}"/>
              </a:ext>
            </a:extLst>
          </p:cNvPr>
          <p:cNvSpPr/>
          <p:nvPr/>
        </p:nvSpPr>
        <p:spPr>
          <a:xfrm>
            <a:off x="868680" y="5767052"/>
            <a:ext cx="118872" cy="118872"/>
          </a:xfrm>
          <a:prstGeom prst="rect">
            <a:avLst/>
          </a:prstGeom>
          <a:solidFill>
            <a:srgbClr val="B56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3B80A7-FCCE-9F96-3F1F-A240AC93C5C4}"/>
              </a:ext>
            </a:extLst>
          </p:cNvPr>
          <p:cNvSpPr txBox="1"/>
          <p:nvPr/>
        </p:nvSpPr>
        <p:spPr>
          <a:xfrm>
            <a:off x="1143000" y="5649612"/>
            <a:ext cx="4526280" cy="7261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2200" b="0" dirty="0">
                <a:solidFill>
                  <a:srgbClr val="333B45"/>
                </a:solidFill>
                <a:latin typeface="Calibri"/>
              </a:rPr>
              <a:t>Consider the mathematical formula dropping the floating-point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3C7357-E8E6-315B-648A-6AC995FD1CE5}"/>
              </a:ext>
            </a:extLst>
          </p:cNvPr>
          <p:cNvSpPr txBox="1"/>
          <p:nvPr/>
        </p:nvSpPr>
        <p:spPr>
          <a:xfrm>
            <a:off x="5974080" y="2611298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697280"/>
                </a:solidFill>
                <a:latin typeface="Consolas"/>
              </a:rPr>
              <a:t>HEADLINE ·  </a:t>
            </a:r>
            <a:r>
              <a:rPr sz="1300" b="0">
                <a:solidFill>
                  <a:srgbClr val="333B45"/>
                </a:solidFill>
                <a:latin typeface="Consolas"/>
              </a:rPr>
              <a:t>LogsumexpFwd.lean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7649C2B-5AEE-328B-62B6-A5B4C74510A0}"/>
              </a:ext>
            </a:extLst>
          </p:cNvPr>
          <p:cNvSpPr/>
          <p:nvPr/>
        </p:nvSpPr>
        <p:spPr>
          <a:xfrm>
            <a:off x="5974080" y="2940482"/>
            <a:ext cx="5394960" cy="324612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C351D9-8BE2-F4B7-49D4-B0C6614528E5}"/>
              </a:ext>
            </a:extLst>
          </p:cNvPr>
          <p:cNvSpPr txBox="1"/>
          <p:nvPr/>
        </p:nvSpPr>
        <p:spPr>
          <a:xfrm>
            <a:off x="6230112" y="3123362"/>
            <a:ext cx="4937760" cy="17912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400" dirty="0">
                <a:solidFill>
                  <a:srgbClr val="697280"/>
                </a:solidFill>
                <a:latin typeface="Consolas"/>
              </a:rPr>
              <a:t>theorem </a:t>
            </a:r>
            <a:r>
              <a:rPr sz="1400" dirty="0" err="1">
                <a:solidFill>
                  <a:srgbClr val="697280"/>
                </a:solidFill>
                <a:latin typeface="Consolas"/>
              </a:rPr>
              <a:t>logsumexp_fwd_kernel</a:t>
            </a:r>
            <a:r>
              <a:rPr sz="1400" dirty="0">
                <a:solidFill>
                  <a:srgbClr val="697280"/>
                </a:solidFill>
                <a:latin typeface="Consolas"/>
              </a:rPr>
              <a:t> … :</a:t>
            </a:r>
          </a:p>
          <a:p>
            <a:pPr>
              <a:lnSpc>
                <a:spcPct val="120000"/>
              </a:lnSpc>
            </a:pPr>
            <a:r>
              <a:rPr sz="1400" dirty="0">
                <a:solidFill>
                  <a:srgbClr val="697280"/>
                </a:solidFill>
                <a:latin typeface="Consolas"/>
              </a:rPr>
              <a:t>  </a:t>
            </a:r>
            <a:r>
              <a:rPr sz="1400" dirty="0" err="1">
                <a:solidFill>
                  <a:srgbClr val="697280"/>
                </a:solidFill>
                <a:latin typeface="Consolas"/>
              </a:rPr>
              <a:t>ComputeCorrect.Realizes</a:t>
            </a:r>
            <a:endParaRPr sz="1400" dirty="0">
              <a:solidFill>
                <a:srgbClr val="697280"/>
              </a:solidFill>
              <a:latin typeface="Consolas"/>
            </a:endParaRPr>
          </a:p>
          <a:p>
            <a:pPr>
              <a:lnSpc>
                <a:spcPct val="120000"/>
              </a:lnSpc>
            </a:pPr>
            <a:r>
              <a:rPr sz="1400" dirty="0">
                <a:solidFill>
                  <a:srgbClr val="697280"/>
                </a:solidFill>
                <a:latin typeface="Consolas"/>
              </a:rPr>
              <a:t>    (kernel   := </a:t>
            </a:r>
            <a:r>
              <a:rPr sz="1400" dirty="0" err="1">
                <a:solidFill>
                  <a:srgbClr val="697280"/>
                </a:solidFill>
                <a:latin typeface="Consolas"/>
              </a:rPr>
              <a:t>logsumexp_fwd_kernel</a:t>
            </a:r>
            <a:r>
              <a:rPr sz="1400" dirty="0">
                <a:solidFill>
                  <a:srgbClr val="697280"/>
                </a:solidFill>
                <a:latin typeface="Consolas"/>
              </a:rPr>
              <a:t> …)</a:t>
            </a:r>
          </a:p>
          <a:p>
            <a:pPr>
              <a:lnSpc>
                <a:spcPct val="120000"/>
              </a:lnSpc>
            </a:pPr>
            <a:r>
              <a:rPr sz="1400" dirty="0">
                <a:solidFill>
                  <a:srgbClr val="697280"/>
                </a:solidFill>
                <a:latin typeface="Consolas"/>
              </a:rPr>
              <a:t>    (write    := fun _ =&gt; some (z, </a:t>
            </a:r>
            <a:r>
              <a:rPr sz="1400" dirty="0" err="1">
                <a:solidFill>
                  <a:srgbClr val="697280"/>
                </a:solidFill>
                <a:latin typeface="Consolas"/>
              </a:rPr>
              <a:t>pid</a:t>
            </a:r>
            <a:r>
              <a:rPr sz="1400" dirty="0">
                <a:solidFill>
                  <a:srgbClr val="697280"/>
                </a:solidFill>
                <a:latin typeface="Consolas"/>
              </a:rPr>
              <a:t>))</a:t>
            </a:r>
          </a:p>
          <a:p>
            <a:pPr>
              <a:lnSpc>
                <a:spcPct val="120000"/>
              </a:lnSpc>
            </a:pPr>
            <a:r>
              <a:rPr sz="1400" dirty="0">
                <a:solidFill>
                  <a:srgbClr val="697280"/>
                </a:solidFill>
                <a:latin typeface="Consolas"/>
              </a:rPr>
              <a:t>    (expected := fun _ =&gt; LSE </a:t>
            </a:r>
            <a:r>
              <a:rPr sz="1400" dirty="0" err="1">
                <a:solidFill>
                  <a:srgbClr val="697280"/>
                </a:solidFill>
                <a:latin typeface="Consolas"/>
              </a:rPr>
              <a:t>xs</a:t>
            </a:r>
            <a:r>
              <a:rPr sz="1400" dirty="0">
                <a:solidFill>
                  <a:srgbClr val="697280"/>
                </a:solidFill>
                <a:latin typeface="Consolas"/>
              </a:rPr>
              <a:t>)</a:t>
            </a:r>
          </a:p>
          <a:p>
            <a:pPr>
              <a:lnSpc>
                <a:spcPct val="120000"/>
              </a:lnSpc>
            </a:pPr>
            <a:endParaRPr sz="1400" dirty="0">
              <a:solidFill>
                <a:srgbClr val="697280"/>
              </a:solidFill>
              <a:latin typeface="Consolas"/>
            </a:endParaRPr>
          </a:p>
          <a:p>
            <a:pPr>
              <a:lnSpc>
                <a:spcPct val="120000"/>
              </a:lnSpc>
            </a:pPr>
            <a:r>
              <a:rPr sz="1400" dirty="0">
                <a:solidFill>
                  <a:srgbClr val="697280"/>
                </a:solidFill>
                <a:latin typeface="Consolas"/>
              </a:rPr>
              <a:t>LSE </a:t>
            </a:r>
            <a:r>
              <a:rPr sz="1400" dirty="0" err="1">
                <a:solidFill>
                  <a:srgbClr val="697280"/>
                </a:solidFill>
                <a:latin typeface="Consolas"/>
              </a:rPr>
              <a:t>xs</a:t>
            </a:r>
            <a:r>
              <a:rPr sz="1400" dirty="0">
                <a:solidFill>
                  <a:srgbClr val="697280"/>
                </a:solidFill>
                <a:latin typeface="Consolas"/>
              </a:rPr>
              <a:t> = log (</a:t>
            </a:r>
            <a:r>
              <a:rPr sz="1400" dirty="0" err="1">
                <a:solidFill>
                  <a:srgbClr val="697280"/>
                </a:solidFill>
                <a:latin typeface="Consolas"/>
              </a:rPr>
              <a:t>Σ</a:t>
            </a:r>
            <a:r>
              <a:rPr sz="1400" dirty="0">
                <a:solidFill>
                  <a:srgbClr val="697280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697280"/>
                </a:solidFill>
                <a:latin typeface="Consolas"/>
              </a:rPr>
              <a:t>i</a:t>
            </a:r>
            <a:r>
              <a:rPr sz="1400" dirty="0">
                <a:solidFill>
                  <a:srgbClr val="697280"/>
                </a:solidFill>
                <a:latin typeface="Consolas"/>
              </a:rPr>
              <a:t>, exp </a:t>
            </a:r>
            <a:r>
              <a:rPr sz="1400" dirty="0" err="1">
                <a:solidFill>
                  <a:srgbClr val="697280"/>
                </a:solidFill>
                <a:latin typeface="Consolas"/>
              </a:rPr>
              <a:t>xs</a:t>
            </a:r>
            <a:r>
              <a:rPr sz="1400" dirty="0">
                <a:solidFill>
                  <a:srgbClr val="697280"/>
                </a:solidFill>
                <a:latin typeface="Consolas"/>
              </a:rPr>
              <a:t>[</a:t>
            </a:r>
            <a:r>
              <a:rPr sz="1400" dirty="0" err="1">
                <a:solidFill>
                  <a:srgbClr val="697280"/>
                </a:solidFill>
                <a:latin typeface="Consolas"/>
              </a:rPr>
              <a:t>i</a:t>
            </a:r>
            <a:r>
              <a:rPr sz="1400" dirty="0">
                <a:solidFill>
                  <a:srgbClr val="697280"/>
                </a:solidFill>
                <a:latin typeface="Consolas"/>
              </a:rPr>
              <a:t>])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B57A2C-5EA3-AC1B-33D5-C970B4541365}"/>
              </a:ext>
            </a:extLst>
          </p:cNvPr>
          <p:cNvSpPr txBox="1"/>
          <p:nvPr/>
        </p:nvSpPr>
        <p:spPr>
          <a:xfrm>
            <a:off x="5974080" y="6177459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97280"/>
                </a:solidFill>
                <a:latin typeface="Calibri"/>
              </a:rPr>
              <a:t>“means” = the output equals this formula, for every input row.</a:t>
            </a:r>
          </a:p>
        </p:txBody>
      </p:sp>
    </p:spTree>
    <p:extLst>
      <p:ext uri="{BB962C8B-B14F-4D97-AF65-F5344CB8AC3E}">
        <p14:creationId xmlns:p14="http://schemas.microsoft.com/office/powerpoint/2010/main" val="3348900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22960" y="697992"/>
            <a:ext cx="292608" cy="25400"/>
          </a:xfrm>
          <a:prstGeom prst="rect">
            <a:avLst/>
          </a:prstGeom>
          <a:solidFill>
            <a:srgbClr val="B56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1018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300" b="1" dirty="0">
                <a:solidFill>
                  <a:srgbClr val="10141A"/>
                </a:solidFill>
                <a:latin typeface="Calibri"/>
              </a:rPr>
              <a:t>Kernel Optimization: </a:t>
            </a:r>
            <a:r>
              <a:rPr sz="3300" b="1" dirty="0">
                <a:solidFill>
                  <a:srgbClr val="10141A"/>
                </a:solidFill>
                <a:latin typeface="Calibri"/>
              </a:rPr>
              <a:t>Fused ≡ unfused.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300" b="1" dirty="0">
                <a:solidFill>
                  <a:srgbClr val="10141A"/>
                </a:solidFill>
                <a:latin typeface="Calibri"/>
              </a:rPr>
              <a:t>Refinement </a:t>
            </a:r>
            <a:r>
              <a:rPr sz="3300" b="1" dirty="0">
                <a:solidFill>
                  <a:srgbClr val="10141A"/>
                </a:solidFill>
                <a:latin typeface="Calibri"/>
              </a:rPr>
              <a:t>Proven.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4937760" cy="11003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lang="en-US" sz="2000" dirty="0"/>
              <a:t>Refines proves an optimized kernel writes what a naive reference does. The proof generally decomposes into three obligations:</a:t>
            </a:r>
            <a:endParaRPr sz="2800" b="0" dirty="0">
              <a:solidFill>
                <a:srgbClr val="333B45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8680" y="3839776"/>
            <a:ext cx="118872" cy="118872"/>
          </a:xfrm>
          <a:prstGeom prst="rect">
            <a:avLst/>
          </a:prstGeom>
          <a:solidFill>
            <a:srgbClr val="B56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738488"/>
            <a:ext cx="4480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000" b="1" dirty="0"/>
              <a:t>Equivalent math</a:t>
            </a:r>
            <a:r>
              <a:rPr lang="en-US" sz="2000" dirty="0"/>
              <a:t> — the underlying real-number computation matches.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699667"/>
            <a:ext cx="118872" cy="118872"/>
          </a:xfrm>
          <a:prstGeom prst="rect">
            <a:avLst/>
          </a:prstGeom>
          <a:solidFill>
            <a:srgbClr val="B56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4612227"/>
            <a:ext cx="4480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000" b="1" dirty="0"/>
              <a:t>Compatible float order</a:t>
            </a:r>
            <a:r>
              <a:rPr lang="en-US" sz="2000" dirty="0"/>
              <a:t> — the sequence of floating-point operations lines 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5612307"/>
            <a:ext cx="118872" cy="118872"/>
          </a:xfrm>
          <a:prstGeom prst="rect">
            <a:avLst/>
          </a:prstGeom>
          <a:solidFill>
            <a:srgbClr val="B56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5525087"/>
            <a:ext cx="461772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000" b="1" dirty="0"/>
              <a:t>Consistent memory</a:t>
            </a:r>
            <a:r>
              <a:rPr lang="en-US" sz="2000" dirty="0"/>
              <a:t> — the same value reaches every output cell, outside declared scratch.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9997" y="2528669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 dirty="0">
                <a:solidFill>
                  <a:srgbClr val="697280"/>
                </a:solidFill>
                <a:latin typeface="Consolas"/>
              </a:rPr>
              <a:t>HEADLINE ·  </a:t>
            </a:r>
            <a:r>
              <a:rPr sz="1300" b="0" dirty="0" err="1">
                <a:solidFill>
                  <a:srgbClr val="333B45"/>
                </a:solidFill>
                <a:latin typeface="Consolas"/>
              </a:rPr>
              <a:t>FusedSiLU.lean</a:t>
            </a:r>
            <a:endParaRPr sz="1300" b="0" dirty="0">
              <a:solidFill>
                <a:srgbClr val="333B45"/>
              </a:solidFill>
              <a:latin typeface="Consola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29997" y="2857853"/>
            <a:ext cx="5394960" cy="2516007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6029" y="3040733"/>
            <a:ext cx="4937760" cy="20486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400" dirty="0">
                <a:solidFill>
                  <a:srgbClr val="697280"/>
                </a:solidFill>
                <a:latin typeface="Consolas"/>
              </a:rPr>
              <a:t>theorem </a:t>
            </a:r>
            <a:r>
              <a:rPr sz="1400" dirty="0" err="1">
                <a:solidFill>
                  <a:srgbClr val="697280"/>
                </a:solidFill>
                <a:latin typeface="Consolas"/>
              </a:rPr>
              <a:t>silu_kernels_refinement_view</a:t>
            </a:r>
            <a:r>
              <a:rPr sz="1400" dirty="0">
                <a:solidFill>
                  <a:srgbClr val="697280"/>
                </a:solidFill>
                <a:latin typeface="Consolas"/>
              </a:rPr>
              <a:t> :</a:t>
            </a:r>
          </a:p>
          <a:p>
            <a:pPr>
              <a:lnSpc>
                <a:spcPct val="120000"/>
              </a:lnSpc>
            </a:pPr>
            <a:r>
              <a:rPr sz="1400" dirty="0">
                <a:solidFill>
                  <a:srgbClr val="697280"/>
                </a:solidFill>
                <a:latin typeface="Consolas"/>
              </a:rPr>
              <a:t>  </a:t>
            </a:r>
            <a:r>
              <a:rPr sz="1400" dirty="0" err="1">
                <a:solidFill>
                  <a:srgbClr val="697280"/>
                </a:solidFill>
                <a:latin typeface="Consolas"/>
              </a:rPr>
              <a:t>ComputeRefine.Refines_without_Rounding</a:t>
            </a:r>
            <a:endParaRPr sz="1400" dirty="0">
              <a:solidFill>
                <a:srgbClr val="697280"/>
              </a:solidFill>
              <a:latin typeface="Consolas"/>
            </a:endParaRPr>
          </a:p>
          <a:p>
            <a:pPr>
              <a:lnSpc>
                <a:spcPct val="120000"/>
              </a:lnSpc>
            </a:pPr>
            <a:r>
              <a:rPr sz="1400" dirty="0">
                <a:solidFill>
                  <a:srgbClr val="697280"/>
                </a:solidFill>
                <a:latin typeface="Consolas"/>
              </a:rPr>
              <a:t>    (</a:t>
            </a:r>
            <a:r>
              <a:rPr sz="1400" dirty="0" err="1">
                <a:solidFill>
                  <a:srgbClr val="697280"/>
                </a:solidFill>
                <a:latin typeface="Consolas"/>
              </a:rPr>
              <a:t>lhs</a:t>
            </a:r>
            <a:r>
              <a:rPr sz="1400" dirty="0">
                <a:solidFill>
                  <a:srgbClr val="697280"/>
                </a:solidFill>
                <a:latin typeface="Consolas"/>
              </a:rPr>
              <a:t> := </a:t>
            </a:r>
            <a:r>
              <a:rPr sz="1400" dirty="0" err="1">
                <a:solidFill>
                  <a:srgbClr val="697280"/>
                </a:solidFill>
                <a:latin typeface="Consolas"/>
              </a:rPr>
              <a:t>fusedSiLUKernel</a:t>
            </a:r>
            <a:r>
              <a:rPr sz="1400" dirty="0">
                <a:solidFill>
                  <a:srgbClr val="697280"/>
                </a:solidFill>
                <a:latin typeface="Consolas"/>
              </a:rPr>
              <a:t> …)</a:t>
            </a:r>
          </a:p>
          <a:p>
            <a:pPr>
              <a:lnSpc>
                <a:spcPct val="120000"/>
              </a:lnSpc>
            </a:pPr>
            <a:r>
              <a:rPr sz="1400" dirty="0">
                <a:solidFill>
                  <a:srgbClr val="697280"/>
                </a:solidFill>
                <a:latin typeface="Consolas"/>
              </a:rPr>
              <a:t>    (</a:t>
            </a:r>
            <a:r>
              <a:rPr sz="1400" dirty="0" err="1">
                <a:solidFill>
                  <a:srgbClr val="697280"/>
                </a:solidFill>
                <a:latin typeface="Consolas"/>
              </a:rPr>
              <a:t>rhs</a:t>
            </a:r>
            <a:r>
              <a:rPr sz="1400" dirty="0">
                <a:solidFill>
                  <a:srgbClr val="697280"/>
                </a:solidFill>
                <a:latin typeface="Consolas"/>
              </a:rPr>
              <a:t> := </a:t>
            </a:r>
            <a:r>
              <a:rPr sz="1400" dirty="0" err="1">
                <a:solidFill>
                  <a:srgbClr val="697280"/>
                </a:solidFill>
                <a:latin typeface="Consolas"/>
              </a:rPr>
              <a:t>unfusedSiLUKernel</a:t>
            </a:r>
            <a:r>
              <a:rPr sz="1400" dirty="0">
                <a:solidFill>
                  <a:srgbClr val="697280"/>
                </a:solidFill>
                <a:latin typeface="Consolas"/>
              </a:rPr>
              <a:t> …)</a:t>
            </a:r>
          </a:p>
          <a:p>
            <a:pPr>
              <a:lnSpc>
                <a:spcPct val="120000"/>
              </a:lnSpc>
            </a:pPr>
            <a:r>
              <a:rPr sz="1400" dirty="0">
                <a:solidFill>
                  <a:srgbClr val="697280"/>
                </a:solidFill>
                <a:latin typeface="Consolas"/>
              </a:rPr>
              <a:t>    (scratch := [</a:t>
            </a:r>
            <a:r>
              <a:rPr sz="1400" dirty="0" err="1">
                <a:solidFill>
                  <a:srgbClr val="697280"/>
                </a:solidFill>
                <a:latin typeface="Consolas"/>
              </a:rPr>
              <a:t>zReg</a:t>
            </a:r>
            <a:r>
              <a:rPr sz="1400" dirty="0">
                <a:solidFill>
                  <a:srgbClr val="697280"/>
                </a:solidFill>
                <a:latin typeface="Consolas"/>
              </a:rPr>
              <a:t>, </a:t>
            </a:r>
            <a:r>
              <a:rPr sz="1400" dirty="0" err="1">
                <a:solidFill>
                  <a:srgbClr val="697280"/>
                </a:solidFill>
                <a:latin typeface="Consolas"/>
              </a:rPr>
              <a:t>siluReg</a:t>
            </a:r>
            <a:r>
              <a:rPr sz="1400" dirty="0">
                <a:solidFill>
                  <a:srgbClr val="697280"/>
                </a:solidFill>
                <a:latin typeface="Consolas"/>
              </a:rPr>
              <a:t>])</a:t>
            </a:r>
          </a:p>
          <a:p>
            <a:pPr>
              <a:lnSpc>
                <a:spcPct val="120000"/>
              </a:lnSpc>
            </a:pPr>
            <a:endParaRPr sz="1400" dirty="0">
              <a:solidFill>
                <a:srgbClr val="697280"/>
              </a:solidFill>
              <a:latin typeface="Consolas"/>
            </a:endParaRPr>
          </a:p>
          <a:p>
            <a:pPr>
              <a:lnSpc>
                <a:spcPct val="120000"/>
              </a:lnSpc>
            </a:pPr>
            <a:r>
              <a:rPr sz="1400" dirty="0">
                <a:solidFill>
                  <a:srgbClr val="697280"/>
                </a:solidFill>
                <a:latin typeface="Consolas"/>
              </a:rPr>
              <a:t>#</a:t>
            </a:r>
            <a:r>
              <a:rPr sz="1400" dirty="0" err="1">
                <a:solidFill>
                  <a:srgbClr val="697280"/>
                </a:solidFill>
                <a:latin typeface="Consolas"/>
              </a:rPr>
              <a:t>axiomsClean</a:t>
            </a:r>
            <a:r>
              <a:rPr sz="1400" dirty="0">
                <a:solidFill>
                  <a:srgbClr val="697280"/>
                </a:solidFill>
                <a:latin typeface="Consolas"/>
              </a:rPr>
              <a:t> …  ✓</a:t>
            </a:r>
          </a:p>
          <a:p>
            <a:pPr>
              <a:lnSpc>
                <a:spcPct val="120000"/>
              </a:lnSpc>
            </a:pPr>
            <a:r>
              <a:rPr sz="1400" dirty="0">
                <a:solidFill>
                  <a:srgbClr val="697280"/>
                </a:solidFill>
                <a:latin typeface="Consolas"/>
              </a:rPr>
              <a:t>#</a:t>
            </a:r>
            <a:r>
              <a:rPr lang="en-US" sz="1400" dirty="0" err="1">
                <a:solidFill>
                  <a:srgbClr val="697280"/>
                </a:solidFill>
                <a:latin typeface="Consolas"/>
              </a:rPr>
              <a:t>noAuxDefs</a:t>
            </a:r>
            <a:r>
              <a:rPr sz="1400" dirty="0">
                <a:solidFill>
                  <a:srgbClr val="697280"/>
                </a:solidFill>
                <a:latin typeface="Consolas"/>
              </a:rPr>
              <a:t> …  ✓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CB1EE5-1306-EADA-ED67-13404E7B3A32}"/>
              </a:ext>
            </a:extLst>
          </p:cNvPr>
          <p:cNvSpPr txBox="1"/>
          <p:nvPr/>
        </p:nvSpPr>
        <p:spPr>
          <a:xfrm>
            <a:off x="1243584" y="621792"/>
            <a:ext cx="4379976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00" dirty="0">
                <a:solidFill>
                  <a:srgbClr val="B56D0F"/>
                </a:solidFill>
                <a:latin typeface="Consolas"/>
              </a:rPr>
              <a:t>03  </a:t>
            </a:r>
            <a:r>
              <a:rPr sz="1250" b="0" spc="220" dirty="0">
                <a:solidFill>
                  <a:srgbClr val="B56D0F"/>
                </a:solidFill>
                <a:latin typeface="Consolas"/>
              </a:rPr>
              <a:t>EXPRESSIVE CORRECTNESS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942C53-D3D9-1710-E3B1-B541F9D085BF}"/>
              </a:ext>
            </a:extLst>
          </p:cNvPr>
          <p:cNvSpPr txBox="1"/>
          <p:nvPr/>
        </p:nvSpPr>
        <p:spPr>
          <a:xfrm>
            <a:off x="6214403" y="5494218"/>
            <a:ext cx="51093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spc="45" dirty="0">
                <a:solidFill>
                  <a:srgbClr val="7E889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Same writes at every cell </a:t>
            </a:r>
          </a:p>
          <a:p>
            <a:r>
              <a:rPr lang="en-US" sz="1600" b="0" i="0" spc="45" dirty="0">
                <a:solidFill>
                  <a:srgbClr val="7E889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outside the scratch temporaries.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22960" y="697992"/>
            <a:ext cx="292608" cy="25400"/>
          </a:xfrm>
          <a:prstGeom prst="rect">
            <a:avLst/>
          </a:prstGeom>
          <a:solidFill>
            <a:srgbClr val="B56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43584" y="62179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00" dirty="0">
                <a:solidFill>
                  <a:srgbClr val="B56D0F"/>
                </a:solidFill>
                <a:latin typeface="Consolas"/>
              </a:rPr>
              <a:t>04  </a:t>
            </a:r>
            <a:r>
              <a:rPr sz="1250" b="0" spc="220" dirty="0">
                <a:solidFill>
                  <a:srgbClr val="B56D0F"/>
                </a:solidFill>
                <a:latin typeface="Consolas"/>
              </a:rPr>
              <a:t>LEMMA LIBRARY + AGENT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7370064" cy="1018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dirty="0">
                <a:solidFill>
                  <a:srgbClr val="10141A"/>
                </a:solidFill>
                <a:latin typeface="Calibri"/>
              </a:rPr>
              <a:t>Hard kernels aren't hand-proved.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dirty="0">
                <a:solidFill>
                  <a:srgbClr val="10141A"/>
                </a:solidFill>
                <a:latin typeface="Calibri"/>
              </a:rPr>
              <a:t>They're composed — driven by agents.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3401568" cy="23317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0704" y="2871216"/>
            <a:ext cx="2926080" cy="2898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b="0" dirty="0">
                <a:solidFill>
                  <a:srgbClr val="B56D0E"/>
                </a:solidFill>
                <a:latin typeface="Trebuchet MS" panose="020B0703020202090204" pitchFamily="34" charset="0"/>
              </a:rPr>
              <a:t>REUSABLE BUILDING BLOCKS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651760"/>
            <a:ext cx="3401568" cy="23317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26864" y="2871216"/>
            <a:ext cx="2926080" cy="297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dirty="0">
                <a:solidFill>
                  <a:srgbClr val="B56D0E"/>
                </a:solidFill>
                <a:latin typeface="Trebuchet MS" panose="020B0703020202090204" pitchFamily="34" charset="0"/>
              </a:rPr>
              <a:t>AUTONOMOUS PROVING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2651760"/>
            <a:ext cx="3401568" cy="23317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93024" y="2871216"/>
            <a:ext cx="2926080" cy="297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dirty="0">
                <a:solidFill>
                  <a:srgbClr val="B56D0E"/>
                </a:solidFill>
                <a:latin typeface="Calibri"/>
              </a:rPr>
              <a:t>THE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49240"/>
            <a:ext cx="10515600" cy="785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dirty="0">
                <a:solidFill>
                  <a:srgbClr val="333B45"/>
                </a:solidFill>
                <a:latin typeface="Calibri"/>
              </a:rPr>
              <a:t>One embedding, one math-spec library, one refinement surface: the stack carries </a:t>
            </a:r>
            <a:r>
              <a:rPr lang="en-US" sz="2200" b="0" dirty="0">
                <a:solidFill>
                  <a:srgbClr val="333B45"/>
                </a:solidFill>
                <a:latin typeface="Calibri"/>
              </a:rPr>
              <a:t>Triton benchmarks to on-the-fly kernels</a:t>
            </a:r>
            <a:r>
              <a:rPr sz="2200" b="0" dirty="0">
                <a:solidFill>
                  <a:srgbClr val="333B45"/>
                </a:solidFill>
                <a:latin typeface="Calibri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E8DA93-821B-4BE1-E8E7-333D46D6C438}"/>
              </a:ext>
            </a:extLst>
          </p:cNvPr>
          <p:cNvSpPr txBox="1"/>
          <p:nvPr/>
        </p:nvSpPr>
        <p:spPr>
          <a:xfrm>
            <a:off x="969264" y="3314359"/>
            <a:ext cx="2942082" cy="151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1800" b="0" dirty="0" err="1">
                <a:solidFill>
                  <a:srgbClr val="697280"/>
                </a:solidFill>
                <a:latin typeface="Calibri"/>
              </a:rPr>
              <a:t>LoopInvariant</a:t>
            </a:r>
            <a:r>
              <a:rPr lang="en-US" sz="1800" b="0" dirty="0">
                <a:solidFill>
                  <a:srgbClr val="697280"/>
                </a:solidFill>
                <a:latin typeface="Calibri"/>
              </a:rPr>
              <a:t> · </a:t>
            </a:r>
            <a:r>
              <a:rPr lang="en-US" sz="1800" b="0" dirty="0" err="1">
                <a:solidFill>
                  <a:srgbClr val="697280"/>
                </a:solidFill>
                <a:latin typeface="Calibri"/>
              </a:rPr>
              <a:t>Matmul</a:t>
            </a:r>
            <a:r>
              <a:rPr lang="en-US" sz="1800" b="0" dirty="0">
                <a:solidFill>
                  <a:srgbClr val="697280"/>
                </a:solidFill>
                <a:latin typeface="Calibri"/>
              </a:rPr>
              <a:t> · </a:t>
            </a:r>
            <a:r>
              <a:rPr lang="en-US" sz="1800" b="0" dirty="0" err="1">
                <a:solidFill>
                  <a:srgbClr val="697280"/>
                </a:solidFill>
                <a:latin typeface="Calibri"/>
              </a:rPr>
              <a:t>ScatterStore</a:t>
            </a:r>
            <a:r>
              <a:rPr lang="en-US" sz="1800" b="0" dirty="0">
                <a:solidFill>
                  <a:srgbClr val="697280"/>
                </a:solidFill>
                <a:latin typeface="Calibri"/>
              </a:rPr>
              <a:t> · </a:t>
            </a:r>
            <a:r>
              <a:rPr lang="en-US" sz="1800" b="0" dirty="0" err="1">
                <a:solidFill>
                  <a:srgbClr val="697280"/>
                </a:solidFill>
                <a:latin typeface="Calibri"/>
              </a:rPr>
              <a:t>OffsetInjective</a:t>
            </a:r>
            <a:endParaRPr lang="en-US" sz="1800" b="0" dirty="0">
              <a:solidFill>
                <a:srgbClr val="697280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lang="en-US" sz="1800" b="0" dirty="0">
                <a:solidFill>
                  <a:srgbClr val="697280"/>
                </a:solidFill>
                <a:latin typeface="Calibri"/>
              </a:rPr>
              <a:t>Math specs: Attention, </a:t>
            </a:r>
            <a:r>
              <a:rPr lang="en-US" sz="1800" b="0" dirty="0" err="1">
                <a:solidFill>
                  <a:srgbClr val="697280"/>
                </a:solidFill>
                <a:latin typeface="Calibri"/>
              </a:rPr>
              <a:t>Softmax</a:t>
            </a:r>
            <a:r>
              <a:rPr lang="en-US" sz="1800" b="0" dirty="0">
                <a:solidFill>
                  <a:srgbClr val="697280"/>
                </a:solidFill>
                <a:latin typeface="Calibri"/>
              </a:rPr>
              <a:t>, </a:t>
            </a:r>
            <a:r>
              <a:rPr lang="en-US" sz="1800" b="0" dirty="0" err="1">
                <a:solidFill>
                  <a:srgbClr val="697280"/>
                </a:solidFill>
                <a:latin typeface="Calibri"/>
              </a:rPr>
              <a:t>LogSumExp</a:t>
            </a:r>
            <a:r>
              <a:rPr lang="en-US" sz="1800" b="0" dirty="0">
                <a:solidFill>
                  <a:srgbClr val="697280"/>
                </a:solidFill>
                <a:latin typeface="Calibri"/>
              </a:rPr>
              <a:t>, Reduction.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BCF0CB-5B64-1D72-E1CB-D5B96764A52D}"/>
              </a:ext>
            </a:extLst>
          </p:cNvPr>
          <p:cNvSpPr txBox="1"/>
          <p:nvPr/>
        </p:nvSpPr>
        <p:spPr>
          <a:xfrm>
            <a:off x="4557950" y="3314359"/>
            <a:ext cx="304561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The Lean agent loop runs in an appropriate harness: Bounded cycles, logged runs, pass/fail decided by Lean — a verdict the agent can't fake.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0A97C3-704A-BFE8-83C9-547365FA19B6}"/>
              </a:ext>
            </a:extLst>
          </p:cNvPr>
          <p:cNvSpPr txBox="1"/>
          <p:nvPr/>
        </p:nvSpPr>
        <p:spPr>
          <a:xfrm>
            <a:off x="8150160" y="3285622"/>
            <a:ext cx="2926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1800" b="0" dirty="0">
                <a:solidFill>
                  <a:srgbClr val="697280"/>
                </a:solidFill>
                <a:latin typeface="Calibri"/>
              </a:rPr>
              <a:t>Agents reuse library lemmas; reusable discoveries feed back into the library. Effort amortizes.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22960" y="697992"/>
            <a:ext cx="292608" cy="25400"/>
          </a:xfrm>
          <a:prstGeom prst="rect">
            <a:avLst/>
          </a:prstGeom>
          <a:solidFill>
            <a:srgbClr val="B56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43584" y="621792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50" b="1" spc="200" dirty="0">
                <a:solidFill>
                  <a:srgbClr val="B56D0F"/>
                </a:solidFill>
                <a:latin typeface="Consolas"/>
              </a:rPr>
              <a:t>04  </a:t>
            </a:r>
            <a:r>
              <a:rPr lang="en-US" sz="1250" spc="220" dirty="0">
                <a:solidFill>
                  <a:srgbClr val="B56D0F"/>
                </a:solidFill>
                <a:latin typeface="Consolas"/>
              </a:rPr>
              <a:t>LEMMA LIBRARY + AGENT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1018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300" b="1" dirty="0">
                <a:solidFill>
                  <a:srgbClr val="10141A"/>
                </a:solidFill>
                <a:latin typeface="Calibri"/>
              </a:rPr>
              <a:t>Based on the lemma library and harness,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300" b="1" dirty="0">
                <a:solidFill>
                  <a:srgbClr val="10141A"/>
                </a:solidFill>
                <a:latin typeface="Calibri"/>
              </a:rPr>
              <a:t>agent can prove</a:t>
            </a:r>
            <a:r>
              <a:rPr sz="3300" b="1" dirty="0">
                <a:solidFill>
                  <a:srgbClr val="10141A"/>
                </a:solidFill>
                <a:latin typeface="Calibri"/>
              </a:rPr>
              <a:t> </a:t>
            </a:r>
            <a:r>
              <a:rPr lang="en-US" sz="3300" b="1" dirty="0">
                <a:solidFill>
                  <a:srgbClr val="10141A"/>
                </a:solidFill>
                <a:latin typeface="Calibri"/>
              </a:rPr>
              <a:t>the </a:t>
            </a:r>
            <a:r>
              <a:rPr sz="3300" b="1" dirty="0">
                <a:solidFill>
                  <a:srgbClr val="10141A"/>
                </a:solidFill>
                <a:latin typeface="Calibri"/>
              </a:rPr>
              <a:t>hardest optimization</a:t>
            </a:r>
            <a:r>
              <a:rPr lang="en-US" sz="3300" b="1" dirty="0">
                <a:solidFill>
                  <a:srgbClr val="10141A"/>
                </a:solidFill>
                <a:latin typeface="Calibri"/>
              </a:rPr>
              <a:t>.</a:t>
            </a:r>
            <a:endParaRPr sz="3300" b="1" dirty="0">
              <a:solidFill>
                <a:srgbClr val="10141A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757492"/>
            <a:ext cx="4449128" cy="2036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2200" b="0" dirty="0">
                <a:solidFill>
                  <a:srgbClr val="333B45"/>
                </a:solidFill>
                <a:latin typeface="Calibri"/>
              </a:rPr>
              <a:t>Naïve attention -&gt; Flash attention: </a:t>
            </a:r>
            <a:r>
              <a:rPr sz="2200" b="0" dirty="0">
                <a:solidFill>
                  <a:srgbClr val="333B45"/>
                </a:solidFill>
                <a:latin typeface="Calibri"/>
              </a:rPr>
              <a:t>Streaming </a:t>
            </a:r>
            <a:r>
              <a:rPr sz="2200" b="0" dirty="0" err="1">
                <a:solidFill>
                  <a:srgbClr val="333B45"/>
                </a:solidFill>
                <a:latin typeface="Calibri"/>
              </a:rPr>
              <a:t>softmax</a:t>
            </a:r>
            <a:r>
              <a:rPr sz="2200" b="0" dirty="0">
                <a:solidFill>
                  <a:srgbClr val="333B45"/>
                </a:solidFill>
                <a:latin typeface="Calibri"/>
              </a:rPr>
              <a:t>, online rescaling, tiling, causal masking, and D-tail edges are proven to refine a naive attention reference.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6792" y="5054354"/>
            <a:ext cx="919885" cy="456242"/>
          </a:xfrm>
          <a:prstGeom prst="roundRect">
            <a:avLst>
              <a:gd name="adj" fmla="val 46869"/>
            </a:avLst>
          </a:prstGeom>
          <a:solidFill>
            <a:srgbClr val="EDF0F4"/>
          </a:solidFill>
          <a:ln w="12700">
            <a:solidFill>
              <a:srgbClr val="1B9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856790" y="5054354"/>
            <a:ext cx="919886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B9445"/>
                </a:solidFill>
                <a:latin typeface="Consolas"/>
              </a:rPr>
              <a:t>✓ forward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33837" y="5049196"/>
            <a:ext cx="919885" cy="456241"/>
          </a:xfrm>
          <a:prstGeom prst="roundRect">
            <a:avLst>
              <a:gd name="adj" fmla="val 50000"/>
            </a:avLst>
          </a:prstGeom>
          <a:solidFill>
            <a:srgbClr val="EDF0F4"/>
          </a:solidFill>
          <a:ln w="12700">
            <a:solidFill>
              <a:srgbClr val="1B9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1933837" y="5049196"/>
            <a:ext cx="919885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B9445"/>
                </a:solidFill>
                <a:latin typeface="Consolas"/>
              </a:rPr>
              <a:t>✓ backward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1453" y="5049196"/>
            <a:ext cx="919885" cy="456240"/>
          </a:xfrm>
          <a:prstGeom prst="roundRect">
            <a:avLst>
              <a:gd name="adj" fmla="val 50000"/>
            </a:avLst>
          </a:prstGeom>
          <a:solidFill>
            <a:srgbClr val="EDF0F4"/>
          </a:solidFill>
          <a:ln w="12700">
            <a:solidFill>
              <a:srgbClr val="1B9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3129409" y="5023842"/>
            <a:ext cx="683971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B9445"/>
                </a:solidFill>
                <a:latin typeface="Consolas"/>
              </a:rPr>
              <a:t>✓ causal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5015" y="5049196"/>
            <a:ext cx="919885" cy="456240"/>
          </a:xfrm>
          <a:prstGeom prst="roundRect">
            <a:avLst>
              <a:gd name="adj" fmla="val 50000"/>
            </a:avLst>
          </a:prstGeom>
          <a:solidFill>
            <a:srgbClr val="EDF0F4"/>
          </a:solidFill>
          <a:ln w="12700">
            <a:solidFill>
              <a:srgbClr val="1B9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3982499" y="5049196"/>
            <a:ext cx="1121849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B9445"/>
                </a:solidFill>
                <a:latin typeface="Consolas"/>
              </a:rPr>
              <a:t>✓ non-causal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480312"/>
            <a:ext cx="53949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 dirty="0">
                <a:solidFill>
                  <a:srgbClr val="697280"/>
                </a:solidFill>
                <a:latin typeface="Consolas"/>
              </a:rPr>
              <a:t>HEADLINE ·  </a:t>
            </a:r>
            <a:r>
              <a:rPr sz="1300" b="0" dirty="0">
                <a:solidFill>
                  <a:srgbClr val="333B45"/>
                </a:solidFill>
                <a:latin typeface="Consolas"/>
              </a:rPr>
              <a:t>FlashAttention1/</a:t>
            </a:r>
            <a:r>
              <a:rPr sz="1300" b="0" dirty="0" err="1">
                <a:solidFill>
                  <a:srgbClr val="333B45"/>
                </a:solidFill>
                <a:latin typeface="Consolas"/>
              </a:rPr>
              <a:t>NaiveRefinement.lean</a:t>
            </a:r>
            <a:endParaRPr sz="1300" b="0" dirty="0">
              <a:solidFill>
                <a:srgbClr val="333B45"/>
              </a:solidFill>
              <a:latin typeface="Consola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89320" y="2809496"/>
            <a:ext cx="5394960" cy="214884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992376"/>
            <a:ext cx="4937760" cy="1819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>
                <a:solidFill>
                  <a:srgbClr val="B56D0F"/>
                </a:solidFill>
                <a:latin typeface="Consolas"/>
              </a:rPr>
              <a:t>theorem fa1_boundaryD_refines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B56D0F"/>
                </a:solidFill>
                <a:latin typeface="Consolas"/>
              </a:rPr>
              <a:t>  _naive_reference_views … :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B56D0F"/>
                </a:solidFill>
                <a:latin typeface="Consolas"/>
              </a:rPr>
              <a:t>  -- FA-1 boundary + D-tail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B56D0F"/>
                </a:solidFill>
                <a:latin typeface="Consolas"/>
              </a:rPr>
              <a:t>  -- refines naive direct attention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B56D0F"/>
                </a:solidFill>
                <a:latin typeface="Consolas"/>
              </a:rPr>
              <a:t>  ComputeRefine.RefinesAt 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4989199"/>
            <a:ext cx="2560320" cy="707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dirty="0">
                <a:solidFill>
                  <a:srgbClr val="10141A"/>
                </a:solidFill>
                <a:latin typeface="Calibri"/>
              </a:rPr>
              <a:t>~</a:t>
            </a:r>
            <a:r>
              <a:rPr lang="en-US" sz="4600" b="1" dirty="0">
                <a:solidFill>
                  <a:srgbClr val="10141A"/>
                </a:solidFill>
                <a:latin typeface="Calibri"/>
              </a:rPr>
              <a:t>5</a:t>
            </a:r>
            <a:r>
              <a:rPr sz="4600" b="1" dirty="0">
                <a:solidFill>
                  <a:srgbClr val="10141A"/>
                </a:solidFill>
                <a:latin typeface="Calibri"/>
              </a:rPr>
              <a:t>0</a:t>
            </a:r>
            <a:r>
              <a:rPr sz="4600" b="1" dirty="0">
                <a:latin typeface="Calibri"/>
              </a:rPr>
              <a:t>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5766439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50">
                <a:solidFill>
                  <a:srgbClr val="697280"/>
                </a:solidFill>
                <a:latin typeface="Consolas"/>
              </a:rPr>
              <a:t>LOC · proof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989199"/>
            <a:ext cx="2560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10141A"/>
                </a:solidFill>
                <a:latin typeface="Calibr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5766439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50">
                <a:solidFill>
                  <a:srgbClr val="697280"/>
                </a:solidFill>
                <a:latin typeface="Consolas"/>
              </a:rPr>
              <a:t>sorry · fully closed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22960" y="697992"/>
            <a:ext cx="292608" cy="25400"/>
          </a:xfrm>
          <a:prstGeom prst="rect">
            <a:avLst/>
          </a:prstGeom>
          <a:solidFill>
            <a:srgbClr val="B56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43584" y="62179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220" dirty="0">
                <a:solidFill>
                  <a:srgbClr val="B56D0F"/>
                </a:solidFill>
                <a:latin typeface="Consolas"/>
              </a:rPr>
              <a:t>RESULTS   ·   BENCHMARK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dirty="0">
                <a:solidFill>
                  <a:srgbClr val="10141A"/>
                </a:solidFill>
                <a:latin typeface="Calibri"/>
              </a:rPr>
              <a:t>A real benchmark — </a:t>
            </a:r>
            <a:r>
              <a:rPr sz="3000" b="1" i="0" dirty="0">
                <a:solidFill>
                  <a:srgbClr val="B56D0F"/>
                </a:solidFill>
                <a:latin typeface="Calibri"/>
              </a:rPr>
              <a:t>verified end to 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424160" cy="623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b="0" i="0" dirty="0">
                <a:solidFill>
                  <a:srgbClr val="333B45"/>
                </a:solidFill>
                <a:latin typeface="Calibri"/>
              </a:rPr>
              <a:t>No cherry-picked toy kernels. </a:t>
            </a:r>
            <a:r>
              <a:rPr b="0" i="0" dirty="0" err="1">
                <a:solidFill>
                  <a:srgbClr val="333B45"/>
                </a:solidFill>
                <a:latin typeface="Calibri"/>
              </a:rPr>
              <a:t>TritonBench</a:t>
            </a:r>
            <a:r>
              <a:rPr b="0" i="0" dirty="0">
                <a:solidFill>
                  <a:srgbClr val="333B45"/>
                </a:solidFill>
                <a:latin typeface="Calibri"/>
              </a:rPr>
              <a:t>-G ships 184 Triton kernels scraped from real GitHub projects (</a:t>
            </a:r>
            <a:r>
              <a:rPr b="0" i="0" dirty="0" err="1">
                <a:solidFill>
                  <a:srgbClr val="333B45"/>
                </a:solidFill>
                <a:latin typeface="Calibri"/>
              </a:rPr>
              <a:t>TritonBench</a:t>
            </a:r>
            <a:r>
              <a:rPr b="0" i="0" dirty="0">
                <a:solidFill>
                  <a:srgbClr val="333B45"/>
                </a:solidFill>
                <a:latin typeface="Calibri"/>
              </a:rPr>
              <a:t>, ACL 2025 Findings). We ported and proved 151 of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51760"/>
            <a:ext cx="2468880" cy="13258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871216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dirty="0">
                <a:solidFill>
                  <a:srgbClr val="10141A"/>
                </a:solidFill>
                <a:latin typeface="Calibri"/>
              </a:rPr>
              <a:t>151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84448"/>
            <a:ext cx="2468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60" dirty="0">
                <a:solidFill>
                  <a:srgbClr val="697280"/>
                </a:solidFill>
                <a:latin typeface="Consolas"/>
              </a:rPr>
              <a:t>KERNELS VERIFIED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1296" y="2651760"/>
            <a:ext cx="2468880" cy="13258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11296" y="2871216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10141A"/>
                </a:solidFill>
                <a:latin typeface="Calibri"/>
              </a:rPr>
              <a:t>184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1296" y="3584448"/>
            <a:ext cx="2468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60" dirty="0">
                <a:solidFill>
                  <a:srgbClr val="697280"/>
                </a:solidFill>
                <a:latin typeface="Consolas"/>
              </a:rPr>
              <a:t>TRITONBENCH-G TOTAL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651760"/>
            <a:ext cx="2468880" cy="13258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99632" y="2871216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dirty="0">
                <a:solidFill>
                  <a:srgbClr val="10141A"/>
                </a:solidFill>
                <a:latin typeface="Calibr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3584448"/>
            <a:ext cx="2468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60" dirty="0">
                <a:solidFill>
                  <a:srgbClr val="697280"/>
                </a:solidFill>
                <a:latin typeface="Consolas"/>
              </a:rPr>
              <a:t>SORRY · FULLY CLOSED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87968" y="2651760"/>
            <a:ext cx="2468880" cy="13258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87968" y="2871216"/>
            <a:ext cx="2468880" cy="707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600" b="1" dirty="0">
                <a:solidFill>
                  <a:srgbClr val="10141A"/>
                </a:solidFill>
                <a:latin typeface="Calibri"/>
              </a:rPr>
              <a:t>0</a:t>
            </a:r>
            <a:endParaRPr sz="4600" b="1" i="0" dirty="0">
              <a:solidFill>
                <a:srgbClr val="10141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887968" y="3584448"/>
            <a:ext cx="2468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60" dirty="0">
                <a:solidFill>
                  <a:srgbClr val="697280"/>
                </a:solidFill>
                <a:latin typeface="Consolas"/>
              </a:rPr>
              <a:t>AXIOM · </a:t>
            </a:r>
            <a:r>
              <a:rPr lang="en-US" sz="1200" b="0" i="0" spc="60" dirty="0">
                <a:solidFill>
                  <a:srgbClr val="697280"/>
                </a:solidFill>
                <a:latin typeface="Consolas"/>
              </a:rPr>
              <a:t>No cheating</a:t>
            </a:r>
            <a:endParaRPr sz="1200" b="0" i="0" spc="60" dirty="0">
              <a:solidFill>
                <a:srgbClr val="697280"/>
              </a:solidFill>
              <a:latin typeface="Consola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3328416" cy="218313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8992" y="4398264"/>
            <a:ext cx="281635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dirty="0">
                <a:solidFill>
                  <a:srgbClr val="10141A"/>
                </a:solidFill>
                <a:latin typeface="Calibri"/>
              </a:rPr>
              <a:t>Faithful 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4873752"/>
            <a:ext cx="2816352" cy="975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b="0" i="0" dirty="0">
                <a:solidFill>
                  <a:srgbClr val="333B45"/>
                </a:solidFill>
                <a:latin typeface="Calibri"/>
              </a:rPr>
              <a:t>Each kernel is a 1:1 .</a:t>
            </a:r>
            <a:r>
              <a:rPr b="0" i="0" dirty="0" err="1">
                <a:solidFill>
                  <a:srgbClr val="333B45"/>
                </a:solidFill>
                <a:latin typeface="Calibri"/>
              </a:rPr>
              <a:t>py</a:t>
            </a:r>
            <a:r>
              <a:rPr b="0" i="0" dirty="0">
                <a:solidFill>
                  <a:srgbClr val="333B45"/>
                </a:solidFill>
                <a:latin typeface="Calibri"/>
              </a:rPr>
              <a:t> ↔ .lean pair, audited against the upstream source.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25696" y="4160520"/>
            <a:ext cx="3328416" cy="218313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81728" y="4398264"/>
            <a:ext cx="281635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dirty="0">
                <a:solidFill>
                  <a:srgbClr val="10141A"/>
                </a:solidFill>
                <a:latin typeface="Calibri"/>
              </a:rPr>
              <a:t>General theorems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4873752"/>
            <a:ext cx="2816352" cy="975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b="0" i="0" dirty="0">
                <a:solidFill>
                  <a:srgbClr val="333B45"/>
                </a:solidFill>
                <a:latin typeface="Calibri"/>
              </a:rPr>
              <a:t>Every proof quantifies over shapes, strides, and flags — no fixed test shape.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2" y="4160520"/>
            <a:ext cx="3328416" cy="218313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84464" y="4398264"/>
            <a:ext cx="281635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 dirty="0">
                <a:solidFill>
                  <a:srgbClr val="10141A"/>
                </a:solidFill>
                <a:latin typeface="Calibri"/>
              </a:rPr>
              <a:t>Agent generation</a:t>
            </a:r>
            <a:endParaRPr sz="2000" b="1" i="0" dirty="0">
              <a:solidFill>
                <a:srgbClr val="10141A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84464" y="4873752"/>
            <a:ext cx="2816352" cy="13074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b="0" i="0" dirty="0">
                <a:solidFill>
                  <a:srgbClr val="333B45"/>
                </a:solidFill>
              </a:rPr>
              <a:t>Proofs come from an LLM agent loop – 130 </a:t>
            </a:r>
            <a:r>
              <a:rPr lang="en-US" dirty="0"/>
              <a:t>→ 10K lines, in ~10min → 6h per kernel, and axiom-free</a:t>
            </a:r>
            <a:endParaRPr b="0" i="0" dirty="0">
              <a:solidFill>
                <a:srgbClr val="333B45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22960" y="697992"/>
            <a:ext cx="292608" cy="25400"/>
          </a:xfrm>
          <a:prstGeom prst="rect">
            <a:avLst/>
          </a:prstGeom>
          <a:solidFill>
            <a:srgbClr val="B56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43584" y="62179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220">
                <a:solidFill>
                  <a:srgbClr val="B56D0F"/>
                </a:solidFill>
                <a:latin typeface="Consolas"/>
              </a:rPr>
              <a:t>RESULTS   ·   BUGS IN THE WILD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881360" cy="4651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b="1" i="0" dirty="0">
                <a:solidFill>
                  <a:srgbClr val="10141A"/>
                </a:solidFill>
                <a:latin typeface="Calibri"/>
              </a:rPr>
              <a:t>Some Bugs Detected by </a:t>
            </a:r>
            <a:r>
              <a:rPr lang="en-US" sz="3000" b="1" i="0" dirty="0" err="1">
                <a:solidFill>
                  <a:srgbClr val="10141A"/>
                </a:solidFill>
                <a:latin typeface="Calibri"/>
              </a:rPr>
              <a:t>VeriTile</a:t>
            </a:r>
            <a:endParaRPr sz="3000" b="1" i="0" dirty="0">
              <a:solidFill>
                <a:srgbClr val="10141A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424160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dirty="0">
                <a:solidFill>
                  <a:srgbClr val="333B45"/>
                </a:solidFill>
                <a:latin typeface="Calibri"/>
              </a:rPr>
              <a:t>Formalizing </a:t>
            </a:r>
            <a:r>
              <a:rPr lang="en-US" sz="2000" b="0" i="0" dirty="0">
                <a:solidFill>
                  <a:srgbClr val="333B45"/>
                </a:solidFill>
                <a:latin typeface="Calibri"/>
              </a:rPr>
              <a:t>torch </a:t>
            </a:r>
            <a:r>
              <a:rPr sz="2000" b="0" i="0" dirty="0">
                <a:solidFill>
                  <a:srgbClr val="333B45"/>
                </a:solidFill>
                <a:latin typeface="Calibri"/>
              </a:rPr>
              <a:t>compiler-generated </a:t>
            </a:r>
            <a:r>
              <a:rPr lang="en-US" sz="2000" b="0" i="0" dirty="0">
                <a:solidFill>
                  <a:srgbClr val="333B45"/>
                </a:solidFill>
                <a:latin typeface="Calibri"/>
              </a:rPr>
              <a:t>triton </a:t>
            </a:r>
            <a:r>
              <a:rPr sz="2000" b="0" i="0" dirty="0">
                <a:solidFill>
                  <a:srgbClr val="333B45"/>
                </a:solidFill>
                <a:latin typeface="Calibri"/>
              </a:rPr>
              <a:t>kernels, a stride obligation refused to close</a:t>
            </a:r>
            <a:r>
              <a:rPr lang="en-US" sz="2000" dirty="0">
                <a:solidFill>
                  <a:srgbClr val="333B45"/>
                </a:solidFill>
                <a:latin typeface="Calibri"/>
              </a:rPr>
              <a:t>; the </a:t>
            </a:r>
            <a:r>
              <a:rPr lang="en-US" sz="2000" b="0" i="0" dirty="0">
                <a:solidFill>
                  <a:srgbClr val="333B45"/>
                </a:solidFill>
                <a:latin typeface="Calibri"/>
              </a:rPr>
              <a:t>agent successfully found counterexamples</a:t>
            </a:r>
            <a:r>
              <a:rPr sz="2000" b="0" i="0" dirty="0">
                <a:solidFill>
                  <a:srgbClr val="333B45"/>
                </a:solidFill>
                <a:latin typeface="Calibri"/>
              </a:rPr>
              <a:t>. Two silent-correctness bugs, reported upstream to </a:t>
            </a:r>
            <a:r>
              <a:rPr sz="2000" b="0" i="0" dirty="0" err="1">
                <a:solidFill>
                  <a:srgbClr val="333B45"/>
                </a:solidFill>
                <a:latin typeface="Calibri"/>
              </a:rPr>
              <a:t>PyTorch</a:t>
            </a:r>
            <a:r>
              <a:rPr sz="2000" b="0" i="0" dirty="0">
                <a:solidFill>
                  <a:srgbClr val="333B45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0097" y="2840356"/>
            <a:ext cx="5175504" cy="2752407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4417" y="3125827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60" dirty="0" err="1">
                <a:solidFill>
                  <a:srgbClr val="697280"/>
                </a:solidFill>
                <a:latin typeface="Consolas"/>
              </a:rPr>
              <a:t>pytorch</a:t>
            </a:r>
            <a:r>
              <a:rPr sz="1400" b="0" i="0" spc="60" dirty="0">
                <a:solidFill>
                  <a:srgbClr val="697280"/>
                </a:solidFill>
                <a:latin typeface="Consolas"/>
              </a:rPr>
              <a:t>/</a:t>
            </a:r>
            <a:r>
              <a:rPr sz="1400" b="0" i="0" spc="60" dirty="0" err="1">
                <a:solidFill>
                  <a:srgbClr val="697280"/>
                </a:solidFill>
                <a:latin typeface="Consolas"/>
              </a:rPr>
              <a:t>pytorch</a:t>
            </a:r>
            <a:r>
              <a:rPr sz="1400" b="0" i="0" spc="60" dirty="0">
                <a:solidFill>
                  <a:srgbClr val="697280"/>
                </a:solidFill>
                <a:latin typeface="Consolas"/>
              </a:rPr>
              <a:t> #179931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50652" y="3034093"/>
            <a:ext cx="2022653" cy="348616"/>
          </a:xfrm>
          <a:prstGeom prst="roundRect">
            <a:avLst>
              <a:gd name="adj" fmla="val 50000"/>
            </a:avLst>
          </a:prstGeom>
          <a:solidFill>
            <a:srgbClr val="EDF0F4"/>
          </a:solidFill>
          <a:ln w="12700">
            <a:solidFill>
              <a:srgbClr val="1B9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76840" y="3122928"/>
            <a:ext cx="1704441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1B9445"/>
                </a:solidFill>
                <a:latin typeface="Consolas"/>
              </a:rPr>
              <a:t>✓ reported · fixed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417" y="3656049"/>
            <a:ext cx="462686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10141A"/>
                </a:solidFill>
                <a:latin typeface="Consolas"/>
              </a:rPr>
              <a:t>adaptive_avg_pool2d → sum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4417" y="4175022"/>
            <a:ext cx="4626864" cy="11621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333B45"/>
                </a:solidFill>
                <a:latin typeface="Calibri"/>
              </a:rPr>
              <a:t>Inductor rounds the reduction length up to a multiple of 32 and uses that as the batch stride — not the real buffer stride. Every batch but batch 0 reads out of bounds and is silently wrong.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7625" y="2840357"/>
            <a:ext cx="5175504" cy="2752406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1945" y="3125827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60" dirty="0" err="1">
                <a:solidFill>
                  <a:srgbClr val="697280"/>
                </a:solidFill>
                <a:latin typeface="Consolas"/>
              </a:rPr>
              <a:t>pytorch</a:t>
            </a:r>
            <a:r>
              <a:rPr sz="1400" b="0" i="0" spc="60" dirty="0">
                <a:solidFill>
                  <a:srgbClr val="697280"/>
                </a:solidFill>
                <a:latin typeface="Consolas"/>
              </a:rPr>
              <a:t>/</a:t>
            </a:r>
            <a:r>
              <a:rPr sz="1400" b="0" i="0" spc="60" dirty="0" err="1">
                <a:solidFill>
                  <a:srgbClr val="697280"/>
                </a:solidFill>
                <a:latin typeface="Consolas"/>
              </a:rPr>
              <a:t>pytorch</a:t>
            </a:r>
            <a:r>
              <a:rPr sz="1400" b="0" i="0" spc="60" dirty="0">
                <a:solidFill>
                  <a:srgbClr val="697280"/>
                </a:solidFill>
                <a:latin typeface="Consolas"/>
              </a:rPr>
              <a:t> #180164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42906" y="3045525"/>
            <a:ext cx="1463039" cy="322896"/>
          </a:xfrm>
          <a:prstGeom prst="roundRect">
            <a:avLst>
              <a:gd name="adj" fmla="val 50000"/>
            </a:avLst>
          </a:prstGeom>
          <a:solidFill>
            <a:srgbClr val="EDF0F4"/>
          </a:solidFill>
          <a:ln w="12700">
            <a:solidFill>
              <a:srgbClr val="B56D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85770" y="3122928"/>
            <a:ext cx="1463039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B56D0F"/>
                </a:solidFill>
                <a:latin typeface="Consolas"/>
              </a:rPr>
              <a:t>reported · open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1945" y="3656048"/>
            <a:ext cx="462686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 dirty="0" err="1">
                <a:solidFill>
                  <a:srgbClr val="10141A"/>
                </a:solidFill>
                <a:latin typeface="Consolas"/>
              </a:rPr>
              <a:t>slice_scatter</a:t>
            </a:r>
            <a:r>
              <a:rPr b="1" i="0" dirty="0">
                <a:solidFill>
                  <a:srgbClr val="10141A"/>
                </a:solidFill>
                <a:latin typeface="Consolas"/>
              </a:rPr>
              <a:t>(…).sum()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1945" y="4175022"/>
            <a:ext cx="4626864" cy="11621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333B45"/>
                </a:solidFill>
                <a:latin typeface="Calibri"/>
              </a:rPr>
              <a:t>A broadcast self leaks a zero stride into the meta kernel. Inductor collapses the iteration space and hard-codes the index to 0 — the gradient comes back silently zeroed.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" y="5760720"/>
            <a:ext cx="105430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pc="30" dirty="0">
                <a:solidFill>
                  <a:srgbClr val="697280"/>
                </a:solidFill>
                <a:latin typeface="Calibri"/>
              </a:rPr>
              <a:t>No crash.  No warning.  Just wrong </a:t>
            </a:r>
            <a:r>
              <a:rPr lang="en-US" sz="1600" b="0" i="0" spc="30" dirty="0">
                <a:solidFill>
                  <a:srgbClr val="697280"/>
                </a:solidFill>
                <a:latin typeface="Calibri"/>
              </a:rPr>
              <a:t>outputs</a:t>
            </a:r>
            <a:r>
              <a:rPr sz="1600" b="0" i="0" spc="30" dirty="0">
                <a:solidFill>
                  <a:srgbClr val="697280"/>
                </a:solidFill>
                <a:latin typeface="Calibri"/>
              </a:rPr>
              <a:t> — the exact failure mode formal verification is built to catch.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22960" y="697992"/>
            <a:ext cx="292608" cy="25400"/>
          </a:xfrm>
          <a:prstGeom prst="rect">
            <a:avLst/>
          </a:prstGeom>
          <a:solidFill>
            <a:srgbClr val="B56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43584" y="62179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220">
                <a:solidFill>
                  <a:srgbClr val="B56D0F"/>
                </a:solidFill>
                <a:latin typeface="Consolas"/>
              </a:rP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607040" cy="477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100" b="1" dirty="0">
                <a:solidFill>
                  <a:srgbClr val="10141A"/>
                </a:solidFill>
                <a:latin typeface="Calibri"/>
              </a:rPr>
              <a:t>A</a:t>
            </a:r>
            <a:r>
              <a:rPr lang="zh-CN" altLang="en-US" sz="3100" b="1" dirty="0">
                <a:solidFill>
                  <a:srgbClr val="10141A"/>
                </a:solidFill>
                <a:latin typeface="Calibri"/>
              </a:rPr>
              <a:t> </a:t>
            </a:r>
            <a:r>
              <a:rPr lang="en-US" altLang="zh-CN" sz="3100" b="1" dirty="0">
                <a:solidFill>
                  <a:srgbClr val="10141A"/>
                </a:solidFill>
                <a:latin typeface="Calibri"/>
              </a:rPr>
              <a:t>Strong Start – Not the Finish Line</a:t>
            </a:r>
            <a:endParaRPr sz="3100" b="1" dirty="0">
              <a:solidFill>
                <a:srgbClr val="B56D0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847088"/>
            <a:ext cx="10424160" cy="10664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lang="en-US" sz="2000" dirty="0" err="1"/>
              <a:t>VeriTile</a:t>
            </a:r>
            <a:r>
              <a:rPr lang="en-US" sz="2000" dirty="0"/>
              <a:t> already proves real Triton kernels end to end. Reaching the whole stack — compilation, hardware, parallelism, narrow floats — is the road ahead; each item turns a trusted boundary into a future proof obligation.</a:t>
            </a:r>
            <a:endParaRPr sz="2400" b="0" dirty="0">
              <a:solidFill>
                <a:srgbClr val="333B45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3151829"/>
            <a:ext cx="5175504" cy="1516687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3352997"/>
            <a:ext cx="4663440" cy="322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dirty="0">
                <a:solidFill>
                  <a:srgbClr val="B56D0F"/>
                </a:solidFill>
                <a:latin typeface="Trebuchet MS" panose="020B0703020202090204" pitchFamily="34" charset="0"/>
              </a:rPr>
              <a:t>LOWERING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3151829"/>
            <a:ext cx="5175504" cy="1516687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3352997"/>
            <a:ext cx="4663440" cy="33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dirty="0">
                <a:solidFill>
                  <a:srgbClr val="B56D0F"/>
                </a:solidFill>
                <a:latin typeface="Trebuchet MS" panose="020B0703020202090204" pitchFamily="34" charset="0"/>
              </a:rPr>
              <a:t>GPU HARDWARE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43466"/>
            <a:ext cx="5175504" cy="1516687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5044634"/>
            <a:ext cx="4663440" cy="33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dirty="0">
                <a:solidFill>
                  <a:srgbClr val="B56D0F"/>
                </a:solidFill>
                <a:latin typeface="Trebuchet MS" panose="020B0703020202090204" pitchFamily="34" charset="0"/>
              </a:rPr>
              <a:t>PARALLELISM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4843466"/>
            <a:ext cx="5175504" cy="1516687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5044634"/>
            <a:ext cx="4663440" cy="322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2000" b="0" dirty="0">
                <a:solidFill>
                  <a:srgbClr val="B56D0F"/>
                </a:solidFill>
                <a:latin typeface="Trebuchet MS" panose="020B0703020202090204" pitchFamily="34" charset="0"/>
              </a:rPr>
              <a:t>More DSLs</a:t>
            </a:r>
            <a:endParaRPr sz="2000" b="0" dirty="0">
              <a:solidFill>
                <a:srgbClr val="B56D0F"/>
              </a:solidFill>
              <a:latin typeface="Trebuchet MS" panose="020B070302020209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D8DC28-F1AC-A769-FD52-0F39E2EC305B}"/>
              </a:ext>
            </a:extLst>
          </p:cNvPr>
          <p:cNvSpPr txBox="1"/>
          <p:nvPr/>
        </p:nvSpPr>
        <p:spPr>
          <a:xfrm>
            <a:off x="969264" y="3799604"/>
            <a:ext cx="46268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1800" b="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Triton → IR → PTX. Bring compilation and source correspondence into the proof.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301D2A-D296-F80A-3D64-4DA72B26F0F4}"/>
              </a:ext>
            </a:extLst>
          </p:cNvPr>
          <p:cNvSpPr txBox="1"/>
          <p:nvPr/>
        </p:nvSpPr>
        <p:spPr>
          <a:xfrm>
            <a:off x="6272784" y="3798697"/>
            <a:ext cx="4629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1800" b="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Move from abstract memory toward HBM/SRAM, warps, and coalescing semantics.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EB6C78-C6A7-7F1F-E736-7B2A96042722}"/>
              </a:ext>
            </a:extLst>
          </p:cNvPr>
          <p:cNvSpPr txBox="1"/>
          <p:nvPr/>
        </p:nvSpPr>
        <p:spPr>
          <a:xfrm>
            <a:off x="1000125" y="5513677"/>
            <a:ext cx="36933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1800" b="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Compose per-program theorems into whole-grid launch guarantees.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E89A7A-CA4E-E405-E5F2-B10183BC2711}"/>
              </a:ext>
            </a:extLst>
          </p:cNvPr>
          <p:cNvSpPr txBox="1"/>
          <p:nvPr/>
        </p:nvSpPr>
        <p:spPr>
          <a:xfrm>
            <a:off x="6446519" y="5576662"/>
            <a:ext cx="42691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1800" b="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Transfer from Triton language to other </a:t>
            </a:r>
            <a:r>
              <a:rPr lang="en-US" sz="1800" b="0">
                <a:solidFill>
                  <a:schemeClr val="bg1">
                    <a:lumMod val="50000"/>
                  </a:schemeClr>
                </a:solidFill>
                <a:latin typeface="Calibri"/>
              </a:rPr>
              <a:t>popular kernel DSL </a:t>
            </a:r>
            <a:r>
              <a:rPr lang="en-US" sz="1800" b="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languages (e.g., </a:t>
            </a:r>
            <a:r>
              <a:rPr lang="en-US" sz="1800" b="0" dirty="0" err="1">
                <a:solidFill>
                  <a:schemeClr val="bg1">
                    <a:lumMod val="50000"/>
                  </a:schemeClr>
                </a:solidFill>
                <a:latin typeface="Calibri"/>
              </a:rPr>
              <a:t>tilelang</a:t>
            </a:r>
            <a:r>
              <a:rPr lang="en-US" sz="1800" b="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22960" y="697992"/>
            <a:ext cx="292608" cy="25400"/>
          </a:xfrm>
          <a:prstGeom prst="rect">
            <a:avLst/>
          </a:prstGeom>
          <a:solidFill>
            <a:srgbClr val="B56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43584" y="62179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220">
                <a:solidFill>
                  <a:srgbClr val="B56D0F"/>
                </a:solidFill>
                <a:latin typeface="Consolas"/>
              </a:rPr>
              <a:t>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881360" cy="1013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sz="3200" b="1" dirty="0">
                <a:solidFill>
                  <a:srgbClr val="10141A"/>
                </a:solidFill>
              </a:rPr>
              <a:t>User writes the Kernel in Triton,</a:t>
            </a:r>
          </a:p>
          <a:p>
            <a:pPr>
              <a:lnSpc>
                <a:spcPct val="105000"/>
              </a:lnSpc>
            </a:pPr>
            <a:r>
              <a:rPr lang="en-US" sz="3200" b="1" dirty="0" err="1">
                <a:solidFill>
                  <a:srgbClr val="10141A"/>
                </a:solidFill>
              </a:rPr>
              <a:t>VeriTile</a:t>
            </a:r>
            <a:r>
              <a:rPr lang="en-US" sz="3200" b="1" dirty="0">
                <a:solidFill>
                  <a:srgbClr val="10141A"/>
                </a:solidFill>
              </a:rPr>
              <a:t> gives a rigorous proof in Lean.</a:t>
            </a:r>
            <a:endParaRPr lang="en-US" sz="3200" b="1" dirty="0">
              <a:solidFill>
                <a:srgbClr val="B56D0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3440" y="2386437"/>
            <a:ext cx="10241280" cy="7032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333B45"/>
                </a:solidFill>
                <a:latin typeface="Calibri"/>
              </a:rPr>
              <a:t>User</a:t>
            </a:r>
            <a:r>
              <a:rPr sz="2000" b="0" dirty="0">
                <a:solidFill>
                  <a:srgbClr val="333B45"/>
                </a:solidFill>
                <a:latin typeface="Calibri"/>
              </a:rPr>
              <a:t> write</a:t>
            </a:r>
            <a:r>
              <a:rPr lang="en-US" sz="2000" b="0" dirty="0">
                <a:solidFill>
                  <a:srgbClr val="333B45"/>
                </a:solidFill>
                <a:latin typeface="Calibri"/>
              </a:rPr>
              <a:t>s</a:t>
            </a:r>
            <a:r>
              <a:rPr sz="2000" b="0" dirty="0">
                <a:solidFill>
                  <a:srgbClr val="333B45"/>
                </a:solidFill>
                <a:latin typeface="Calibri"/>
              </a:rPr>
              <a:t> ordinary Triton. </a:t>
            </a:r>
            <a:r>
              <a:rPr lang="en-US" sz="2000" b="0" dirty="0" err="1">
                <a:solidFill>
                  <a:srgbClr val="333B45"/>
                </a:solidFill>
                <a:latin typeface="Calibri"/>
              </a:rPr>
              <a:t>VeriTile</a:t>
            </a:r>
            <a:r>
              <a:rPr sz="2000" b="0" dirty="0">
                <a:solidFill>
                  <a:srgbClr val="333B45"/>
                </a:solidFill>
                <a:latin typeface="Calibri"/>
              </a:rPr>
              <a:t> </a:t>
            </a:r>
            <a:r>
              <a:rPr lang="en-US" sz="2000" b="0" dirty="0">
                <a:solidFill>
                  <a:srgbClr val="333B45"/>
                </a:solidFill>
                <a:latin typeface="Calibri"/>
              </a:rPr>
              <a:t>provides</a:t>
            </a:r>
            <a:r>
              <a:rPr sz="2000" b="0" dirty="0">
                <a:solidFill>
                  <a:srgbClr val="333B45"/>
                </a:solidFill>
                <a:latin typeface="Calibri"/>
              </a:rPr>
              <a:t> a machine-checked proof that holds for </a:t>
            </a:r>
            <a:r>
              <a:rPr sz="2000" b="1" dirty="0">
                <a:solidFill>
                  <a:srgbClr val="10141A"/>
                </a:solidFill>
                <a:latin typeface="Calibri"/>
              </a:rPr>
              <a:t>every admissible shape, stride, and value</a:t>
            </a:r>
            <a:r>
              <a:rPr sz="2000" b="0" dirty="0">
                <a:solidFill>
                  <a:srgbClr val="333B45"/>
                </a:solidFill>
                <a:latin typeface="Calibri"/>
              </a:rPr>
              <a:t> — not a green test suite that happened to miss the bad case.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349991"/>
            <a:ext cx="3328416" cy="2610758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3489855"/>
            <a:ext cx="2779776" cy="617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B56D0F"/>
                </a:solidFill>
                <a:latin typeface="Calibri"/>
              </a:rPr>
              <a:t>Triton DSL</a:t>
            </a:r>
            <a:r>
              <a:rPr lang="en-US" sz="2000" b="1" dirty="0">
                <a:solidFill>
                  <a:srgbClr val="B56D0F"/>
                </a:solidFill>
                <a:latin typeface="Calibri"/>
              </a:rPr>
              <a:t> </a:t>
            </a:r>
            <a:r>
              <a:rPr sz="2000" b="1" dirty="0">
                <a:solidFill>
                  <a:srgbClr val="B56D0F"/>
                </a:solidFill>
                <a:latin typeface="Calibri"/>
              </a:rPr>
              <a:t>embedded </a:t>
            </a:r>
            <a:endParaRPr lang="en-US" sz="2000" b="1" dirty="0">
              <a:solidFill>
                <a:srgbClr val="B56D0F"/>
              </a:solidFill>
              <a:latin typeface="Calibri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B56D0F"/>
                </a:solidFill>
                <a:latin typeface="Calibri"/>
              </a:rPr>
              <a:t>in 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3977"/>
            <a:ext cx="2779776" cy="1457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Users write ordinary Triton; its semantics are embedded in Lean — not LLM-</a:t>
            </a:r>
            <a:r>
              <a:rPr sz="1600" b="0" dirty="0" err="1">
                <a:solidFill>
                  <a:schemeClr val="bg1">
                    <a:lumMod val="50000"/>
                  </a:schemeClr>
                </a:solidFill>
                <a:latin typeface="Calibri"/>
              </a:rPr>
              <a:t>autoformalized</a:t>
            </a:r>
            <a:r>
              <a:rPr sz="1600" b="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 — so the trusted gap stays small and auditable.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3349991"/>
            <a:ext cx="3328416" cy="2599326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0016" y="3489855"/>
            <a:ext cx="2779776" cy="617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B56D0F"/>
                </a:solidFill>
                <a:latin typeface="Calibri"/>
              </a:rPr>
              <a:t>Full proof-generation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4202813"/>
            <a:ext cx="2779776" cy="11621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Proofs are produced end to end by an LLM agent loop against machine audit gates — not hand-written.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3349991"/>
            <a:ext cx="3328416" cy="2553606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84464" y="3489855"/>
            <a:ext cx="2779776" cy="617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B56D0F"/>
                </a:solidFill>
                <a:latin typeface="Calibri"/>
              </a:rPr>
              <a:t>Hundreds of</a:t>
            </a:r>
            <a:r>
              <a:rPr sz="2000" b="1" dirty="0">
                <a:solidFill>
                  <a:srgbClr val="B56D0F"/>
                </a:solidFill>
                <a:latin typeface="Calibri"/>
              </a:rPr>
              <a:t> kernels proved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4222004"/>
            <a:ext cx="2791968" cy="11621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chemeClr val="bg1">
                    <a:lumMod val="50000"/>
                  </a:schemeClr>
                </a:solidFill>
              </a:rPr>
              <a:t>A real benchmark — </a:t>
            </a:r>
            <a:r>
              <a:rPr sz="1600" b="0" dirty="0" err="1">
                <a:solidFill>
                  <a:schemeClr val="bg1">
                    <a:lumMod val="50000"/>
                  </a:schemeClr>
                </a:solidFill>
              </a:rPr>
              <a:t>TritonBench</a:t>
            </a:r>
            <a:r>
              <a:rPr sz="1600" b="0" dirty="0">
                <a:solidFill>
                  <a:schemeClr val="bg1">
                    <a:lumMod val="50000"/>
                  </a:schemeClr>
                </a:solidFill>
              </a:rPr>
              <a:t>-G — 0 sorry · 0 axioms, general over every shape, scaling to </a:t>
            </a:r>
            <a:r>
              <a:rPr lang="en-US" sz="1600" b="0" dirty="0">
                <a:solidFill>
                  <a:schemeClr val="bg1">
                    <a:lumMod val="50000"/>
                  </a:schemeClr>
                </a:solidFill>
              </a:rPr>
              <a:t>complex kernels.</a:t>
            </a:r>
            <a:endParaRPr sz="1600" b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2084" y="6045183"/>
            <a:ext cx="105430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spc="30" dirty="0">
                <a:solidFill>
                  <a:srgbClr val="697280"/>
                </a:solidFill>
                <a:latin typeface="Calibri"/>
              </a:rPr>
              <a:t>Genuine · general · agent-generated — and already catching what testing ships past.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1758</TotalTime>
  <Words>2196</Words>
  <Application>Microsoft Macintosh PowerPoint</Application>
  <PresentationFormat>Widescreen</PresentationFormat>
  <Paragraphs>270</Paragraphs>
  <Slides>16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ui-monospace</vt:lpstr>
      <vt:lpstr>Aptos</vt:lpstr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Zenan Li</cp:lastModifiedBy>
  <cp:revision>287</cp:revision>
  <dcterms:created xsi:type="dcterms:W3CDTF">2013-01-27T09:14:16Z</dcterms:created>
  <dcterms:modified xsi:type="dcterms:W3CDTF">2026-07-11T14:17:48Z</dcterms:modified>
  <cp:category/>
</cp:coreProperties>
</file>